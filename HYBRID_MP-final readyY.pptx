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8" r:id="rId13"/>
    <p:sldId id="269" r:id="rId14"/>
  </p:sldIdLst>
  <p:sldSz cx="18288000" cy="10287000"/>
  <p:notesSz cx="6858000" cy="9144000"/>
  <p:embeddedFontLst>
    <p:embeddedFont>
      <p:font typeface="Century Gothic Paneuropean Bold" panose="020B0604020202020204" charset="0"/>
      <p:regular r:id="rId16"/>
    </p:embeddedFont>
    <p:embeddedFont>
      <p:font typeface="Quattrocento Bold" panose="020B0604020202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73221-6ACA-4914-8DE1-CF8F4A1F0CC2}" v="6" dt="2026-01-06T05:28:50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4F064-5AE6-4A29-91FF-C8DCA331116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DACCE-54B8-47E2-ACE8-249429483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88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DACCE-54B8-47E2-ACE8-2494294836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914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4288"/>
            <a:ext cx="18302288" cy="10301288"/>
            <a:chOff x="0" y="0"/>
            <a:chExt cx="24403051" cy="137350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3050" cy="13735050"/>
            </a:xfrm>
            <a:custGeom>
              <a:avLst/>
              <a:gdLst/>
              <a:ahLst/>
              <a:cxnLst/>
              <a:rect l="l" t="t" r="r" b="b"/>
              <a:pathLst>
                <a:path w="24403050" h="13735050">
                  <a:moveTo>
                    <a:pt x="0" y="0"/>
                  </a:moveTo>
                  <a:lnTo>
                    <a:pt x="24403050" y="0"/>
                  </a:lnTo>
                  <a:lnTo>
                    <a:pt x="24403050" y="13735050"/>
                  </a:lnTo>
                  <a:lnTo>
                    <a:pt x="0" y="1373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189" r="-2718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126705" y="190500"/>
            <a:ext cx="10544175" cy="1709738"/>
            <a:chOff x="0" y="0"/>
            <a:chExt cx="14058900" cy="2279651"/>
          </a:xfrm>
        </p:grpSpPr>
        <p:sp>
          <p:nvSpPr>
            <p:cNvPr id="5" name="Freeform 5" descr="C:\Users\EXAM CELL\Downloads\High-Tech (3).png"/>
            <p:cNvSpPr/>
            <p:nvPr/>
          </p:nvSpPr>
          <p:spPr>
            <a:xfrm>
              <a:off x="0" y="0"/>
              <a:ext cx="14058900" cy="2279650"/>
            </a:xfrm>
            <a:custGeom>
              <a:avLst/>
              <a:gdLst/>
              <a:ahLst/>
              <a:cxnLst/>
              <a:rect l="l" t="t" r="r" b="b"/>
              <a:pathLst>
                <a:path w="14058900" h="2279650">
                  <a:moveTo>
                    <a:pt x="0" y="0"/>
                  </a:moveTo>
                  <a:lnTo>
                    <a:pt x="14058900" y="0"/>
                  </a:lnTo>
                  <a:lnTo>
                    <a:pt x="14058900" y="2279650"/>
                  </a:lnTo>
                  <a:lnTo>
                    <a:pt x="0" y="227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9904" b="-6990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46193" y="9544506"/>
            <a:ext cx="313899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FFFF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Date: 06.01.2026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575880" y="164306"/>
            <a:ext cx="1550194" cy="1550194"/>
            <a:chOff x="0" y="0"/>
            <a:chExt cx="2066925" cy="2066925"/>
          </a:xfrm>
        </p:grpSpPr>
        <p:sp>
          <p:nvSpPr>
            <p:cNvPr id="8" name="Freeform 8" descr="C:\Users\EXAM CELL\Downloads\Veltech_-Round-Logo-Final (3).png"/>
            <p:cNvSpPr/>
            <p:nvPr/>
          </p:nvSpPr>
          <p:spPr>
            <a:xfrm>
              <a:off x="0" y="0"/>
              <a:ext cx="2066925" cy="2066925"/>
            </a:xfrm>
            <a:custGeom>
              <a:avLst/>
              <a:gdLst/>
              <a:ahLst/>
              <a:cxnLst/>
              <a:rect l="l" t="t" r="r" b="b"/>
              <a:pathLst>
                <a:path w="2066925" h="2066925">
                  <a:moveTo>
                    <a:pt x="0" y="0"/>
                  </a:moveTo>
                  <a:lnTo>
                    <a:pt x="2066925" y="0"/>
                  </a:lnTo>
                  <a:lnTo>
                    <a:pt x="2066925" y="2066925"/>
                  </a:lnTo>
                  <a:lnTo>
                    <a:pt x="0" y="2066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880951" y="6627090"/>
            <a:ext cx="2401252" cy="114300"/>
            <a:chOff x="0" y="0"/>
            <a:chExt cx="3201669" cy="152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01670" cy="152400"/>
            </a:xfrm>
            <a:custGeom>
              <a:avLst/>
              <a:gdLst/>
              <a:ahLst/>
              <a:cxnLst/>
              <a:rect l="l" t="t" r="r" b="b"/>
              <a:pathLst>
                <a:path w="3201670" h="152400">
                  <a:moveTo>
                    <a:pt x="0" y="0"/>
                  </a:moveTo>
                  <a:lnTo>
                    <a:pt x="3201670" y="0"/>
                  </a:lnTo>
                  <a:lnTo>
                    <a:pt x="320167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657600" y="1664494"/>
            <a:ext cx="11480006" cy="584835"/>
            <a:chOff x="0" y="0"/>
            <a:chExt cx="15306675" cy="7797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06675" cy="779780"/>
            </a:xfrm>
            <a:custGeom>
              <a:avLst/>
              <a:gdLst/>
              <a:ahLst/>
              <a:cxnLst/>
              <a:rect l="l" t="t" r="r" b="b"/>
              <a:pathLst>
                <a:path w="15306675" h="779780">
                  <a:moveTo>
                    <a:pt x="0" y="0"/>
                  </a:moveTo>
                  <a:lnTo>
                    <a:pt x="15306675" y="0"/>
                  </a:lnTo>
                  <a:lnTo>
                    <a:pt x="15306675" y="779780"/>
                  </a:lnTo>
                  <a:lnTo>
                    <a:pt x="0" y="7797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5306675" cy="8464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Autonomous Institution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00" y="6622400"/>
            <a:ext cx="597693" cy="22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Biotech,</a:t>
            </a:r>
          </a:p>
          <a:p>
            <a:pPr algn="ctr">
              <a:lnSpc>
                <a:spcPts val="719"/>
              </a:lnSpc>
            </a:pPr>
            <a:r>
              <a:rPr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Chemical,ECE &amp;IT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37401" y="3533376"/>
            <a:ext cx="12368022" cy="803803"/>
            <a:chOff x="0" y="0"/>
            <a:chExt cx="16490695" cy="10717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490696" cy="1071753"/>
            </a:xfrm>
            <a:custGeom>
              <a:avLst/>
              <a:gdLst/>
              <a:ahLst/>
              <a:cxnLst/>
              <a:rect l="l" t="t" r="r" b="b"/>
              <a:pathLst>
                <a:path w="16490696" h="1071753">
                  <a:moveTo>
                    <a:pt x="0" y="0"/>
                  </a:moveTo>
                  <a:lnTo>
                    <a:pt x="16490696" y="0"/>
                  </a:lnTo>
                  <a:lnTo>
                    <a:pt x="16490696" y="1071753"/>
                  </a:lnTo>
                  <a:lnTo>
                    <a:pt x="0" y="1071753"/>
                  </a:lnTo>
                  <a:close/>
                </a:path>
              </a:pathLst>
            </a:custGeom>
            <a:gradFill rotWithShape="1">
              <a:gsLst>
                <a:gs pos="0">
                  <a:srgbClr val="FFDC9B">
                    <a:alpha val="100000"/>
                  </a:srgbClr>
                </a:gs>
                <a:gs pos="50000">
                  <a:srgbClr val="FFD68D">
                    <a:alpha val="100000"/>
                  </a:srgbClr>
                </a:gs>
                <a:gs pos="100000">
                  <a:srgbClr val="FFD478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17" name="Group 17"/>
          <p:cNvGrpSpPr/>
          <p:nvPr/>
        </p:nvGrpSpPr>
        <p:grpSpPr>
          <a:xfrm>
            <a:off x="3880272" y="3423714"/>
            <a:ext cx="12482322" cy="921432"/>
            <a:chOff x="0" y="0"/>
            <a:chExt cx="16643095" cy="12285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643096" cy="1228471"/>
            </a:xfrm>
            <a:custGeom>
              <a:avLst/>
              <a:gdLst/>
              <a:ahLst/>
              <a:cxnLst/>
              <a:rect l="l" t="t" r="r" b="b"/>
              <a:pathLst>
                <a:path w="16643096" h="1228471">
                  <a:moveTo>
                    <a:pt x="76200" y="0"/>
                  </a:moveTo>
                  <a:lnTo>
                    <a:pt x="16566896" y="0"/>
                  </a:lnTo>
                  <a:cubicBezTo>
                    <a:pt x="16608933" y="0"/>
                    <a:pt x="16643096" y="35179"/>
                    <a:pt x="16643096" y="78359"/>
                  </a:cubicBezTo>
                  <a:lnTo>
                    <a:pt x="16643096" y="1150112"/>
                  </a:lnTo>
                  <a:cubicBezTo>
                    <a:pt x="16643096" y="1193419"/>
                    <a:pt x="16608933" y="1228471"/>
                    <a:pt x="16566896" y="1228471"/>
                  </a:cubicBezTo>
                  <a:lnTo>
                    <a:pt x="76200" y="1228471"/>
                  </a:lnTo>
                  <a:cubicBezTo>
                    <a:pt x="34163" y="1228471"/>
                    <a:pt x="0" y="1193292"/>
                    <a:pt x="0" y="1150112"/>
                  </a:cubicBezTo>
                  <a:lnTo>
                    <a:pt x="0" y="78359"/>
                  </a:lnTo>
                  <a:cubicBezTo>
                    <a:pt x="0" y="35179"/>
                    <a:pt x="34163" y="0"/>
                    <a:pt x="76200" y="0"/>
                  </a:cubicBezTo>
                  <a:moveTo>
                    <a:pt x="76200" y="156845"/>
                  </a:moveTo>
                  <a:lnTo>
                    <a:pt x="76200" y="78359"/>
                  </a:lnTo>
                  <a:lnTo>
                    <a:pt x="152400" y="78359"/>
                  </a:lnTo>
                  <a:lnTo>
                    <a:pt x="152400" y="1150112"/>
                  </a:lnTo>
                  <a:lnTo>
                    <a:pt x="76200" y="1150112"/>
                  </a:lnTo>
                  <a:lnTo>
                    <a:pt x="76200" y="1071753"/>
                  </a:lnTo>
                  <a:lnTo>
                    <a:pt x="16566896" y="1071753"/>
                  </a:lnTo>
                  <a:lnTo>
                    <a:pt x="16566896" y="1150112"/>
                  </a:lnTo>
                  <a:lnTo>
                    <a:pt x="16490696" y="1150112"/>
                  </a:lnTo>
                  <a:lnTo>
                    <a:pt x="16490696" y="78359"/>
                  </a:lnTo>
                  <a:lnTo>
                    <a:pt x="16566896" y="78359"/>
                  </a:lnTo>
                  <a:lnTo>
                    <a:pt x="16566896" y="156718"/>
                  </a:lnTo>
                  <a:lnTo>
                    <a:pt x="76200" y="156718"/>
                  </a:lnTo>
                  <a:close/>
                </a:path>
              </a:pathLst>
            </a:custGeom>
            <a:solidFill>
              <a:srgbClr val="00B050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3864693" y="3499608"/>
            <a:ext cx="12380762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MINI PROJECT PHASE -IV 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92455" y="3474561"/>
            <a:ext cx="1741170" cy="1741170"/>
            <a:chOff x="0" y="0"/>
            <a:chExt cx="2321560" cy="23215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21560" cy="2321560"/>
            </a:xfrm>
            <a:custGeom>
              <a:avLst/>
              <a:gdLst/>
              <a:ahLst/>
              <a:cxnLst/>
              <a:rect l="l" t="t" r="r" b="b"/>
              <a:pathLst>
                <a:path w="2321560" h="2321560">
                  <a:moveTo>
                    <a:pt x="0" y="0"/>
                  </a:moveTo>
                  <a:lnTo>
                    <a:pt x="2321560" y="0"/>
                  </a:lnTo>
                  <a:lnTo>
                    <a:pt x="2321560" y="2321560"/>
                  </a:lnTo>
                  <a:lnTo>
                    <a:pt x="0" y="232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634659" y="5670888"/>
            <a:ext cx="1741170" cy="1741170"/>
            <a:chOff x="0" y="0"/>
            <a:chExt cx="2321560" cy="23215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21560" cy="2321560"/>
            </a:xfrm>
            <a:custGeom>
              <a:avLst/>
              <a:gdLst/>
              <a:ahLst/>
              <a:cxnLst/>
              <a:rect l="l" t="t" r="r" b="b"/>
              <a:pathLst>
                <a:path w="2321560" h="2321560">
                  <a:moveTo>
                    <a:pt x="0" y="0"/>
                  </a:moveTo>
                  <a:lnTo>
                    <a:pt x="2321560" y="0"/>
                  </a:lnTo>
                  <a:lnTo>
                    <a:pt x="2321560" y="2321560"/>
                  </a:lnTo>
                  <a:lnTo>
                    <a:pt x="0" y="232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69" r="-176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74246" y="7768518"/>
            <a:ext cx="2760345" cy="859346"/>
            <a:chOff x="0" y="0"/>
            <a:chExt cx="3680460" cy="11457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80460" cy="1145794"/>
            </a:xfrm>
            <a:custGeom>
              <a:avLst/>
              <a:gdLst/>
              <a:ahLst/>
              <a:cxnLst/>
              <a:rect l="l" t="t" r="r" b="b"/>
              <a:pathLst>
                <a:path w="3680460" h="1145794">
                  <a:moveTo>
                    <a:pt x="0" y="0"/>
                  </a:moveTo>
                  <a:lnTo>
                    <a:pt x="3680460" y="0"/>
                  </a:lnTo>
                  <a:lnTo>
                    <a:pt x="3680460" y="1145794"/>
                  </a:lnTo>
                  <a:lnTo>
                    <a:pt x="0" y="1145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192" r="-17192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63306" y="8570736"/>
            <a:ext cx="2969990" cy="640080"/>
            <a:chOff x="0" y="0"/>
            <a:chExt cx="3959987" cy="8534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59987" cy="853440"/>
            </a:xfrm>
            <a:custGeom>
              <a:avLst/>
              <a:gdLst/>
              <a:ahLst/>
              <a:cxnLst/>
              <a:rect l="l" t="t" r="r" b="b"/>
              <a:pathLst>
                <a:path w="3959987" h="853440">
                  <a:moveTo>
                    <a:pt x="0" y="0"/>
                  </a:moveTo>
                  <a:lnTo>
                    <a:pt x="3959987" y="0"/>
                  </a:lnTo>
                  <a:lnTo>
                    <a:pt x="3959987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0613" r="-10613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5330918" y="2480976"/>
            <a:ext cx="9581007" cy="665607"/>
            <a:chOff x="0" y="0"/>
            <a:chExt cx="12774676" cy="88747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774676" cy="887476"/>
            </a:xfrm>
            <a:custGeom>
              <a:avLst/>
              <a:gdLst/>
              <a:ahLst/>
              <a:cxnLst/>
              <a:rect l="l" t="t" r="r" b="b"/>
              <a:pathLst>
                <a:path w="12774676" h="887476">
                  <a:moveTo>
                    <a:pt x="0" y="0"/>
                  </a:moveTo>
                  <a:lnTo>
                    <a:pt x="12774676" y="0"/>
                  </a:lnTo>
                  <a:lnTo>
                    <a:pt x="12774676" y="887476"/>
                  </a:lnTo>
                  <a:lnTo>
                    <a:pt x="0" y="887476"/>
                  </a:lnTo>
                  <a:close/>
                </a:path>
              </a:pathLst>
            </a:custGeom>
            <a:gradFill rotWithShape="1">
              <a:gsLst>
                <a:gs pos="0">
                  <a:srgbClr val="FFC647">
                    <a:alpha val="100000"/>
                  </a:srgbClr>
                </a:gs>
                <a:gs pos="50000">
                  <a:srgbClr val="FFC600">
                    <a:alpha val="100000"/>
                  </a:srgbClr>
                </a:gs>
                <a:gs pos="100000">
                  <a:srgbClr val="E3B400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30" name="Group 30"/>
          <p:cNvGrpSpPr/>
          <p:nvPr/>
        </p:nvGrpSpPr>
        <p:grpSpPr>
          <a:xfrm>
            <a:off x="5323774" y="2473832"/>
            <a:ext cx="9595294" cy="679894"/>
            <a:chOff x="0" y="0"/>
            <a:chExt cx="12793726" cy="90652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793726" cy="906526"/>
            </a:xfrm>
            <a:custGeom>
              <a:avLst/>
              <a:gdLst/>
              <a:ahLst/>
              <a:cxnLst/>
              <a:rect l="l" t="t" r="r" b="b"/>
              <a:pathLst>
                <a:path w="12793726" h="906526">
                  <a:moveTo>
                    <a:pt x="9525" y="0"/>
                  </a:moveTo>
                  <a:lnTo>
                    <a:pt x="12784201" y="0"/>
                  </a:lnTo>
                  <a:cubicBezTo>
                    <a:pt x="12789408" y="0"/>
                    <a:pt x="12793726" y="4318"/>
                    <a:pt x="12793726" y="9525"/>
                  </a:cubicBezTo>
                  <a:lnTo>
                    <a:pt x="12793726" y="897001"/>
                  </a:lnTo>
                  <a:cubicBezTo>
                    <a:pt x="12793726" y="902208"/>
                    <a:pt x="12789408" y="906526"/>
                    <a:pt x="12784201" y="906526"/>
                  </a:cubicBezTo>
                  <a:lnTo>
                    <a:pt x="9525" y="906526"/>
                  </a:lnTo>
                  <a:cubicBezTo>
                    <a:pt x="4318" y="906526"/>
                    <a:pt x="0" y="902208"/>
                    <a:pt x="0" y="89700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97001"/>
                  </a:lnTo>
                  <a:lnTo>
                    <a:pt x="9525" y="897001"/>
                  </a:lnTo>
                  <a:lnTo>
                    <a:pt x="9525" y="887476"/>
                  </a:lnTo>
                  <a:lnTo>
                    <a:pt x="12784201" y="887476"/>
                  </a:lnTo>
                  <a:lnTo>
                    <a:pt x="12784201" y="897001"/>
                  </a:lnTo>
                  <a:lnTo>
                    <a:pt x="12774676" y="897001"/>
                  </a:lnTo>
                  <a:lnTo>
                    <a:pt x="12774676" y="9525"/>
                  </a:lnTo>
                  <a:lnTo>
                    <a:pt x="12784201" y="9525"/>
                  </a:lnTo>
                  <a:lnTo>
                    <a:pt x="1278420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2D05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5323774" y="2423826"/>
            <a:ext cx="9595317" cy="729923"/>
            <a:chOff x="0" y="0"/>
            <a:chExt cx="12793756" cy="97323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793756" cy="973231"/>
            </a:xfrm>
            <a:custGeom>
              <a:avLst/>
              <a:gdLst/>
              <a:ahLst/>
              <a:cxnLst/>
              <a:rect l="l" t="t" r="r" b="b"/>
              <a:pathLst>
                <a:path w="12793756" h="973231">
                  <a:moveTo>
                    <a:pt x="0" y="0"/>
                  </a:moveTo>
                  <a:lnTo>
                    <a:pt x="12793756" y="0"/>
                  </a:lnTo>
                  <a:lnTo>
                    <a:pt x="12793756" y="973231"/>
                  </a:lnTo>
                  <a:lnTo>
                    <a:pt x="0" y="973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12793756" cy="1039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</a:t>
              </a:r>
              <a:r>
                <a:rPr lang="en-US" sz="3000">
                  <a:solidFill>
                    <a:srgbClr val="2F559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Artificial Intelligence And Data Science 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85186" y="4290183"/>
            <a:ext cx="13974114" cy="1970194"/>
            <a:chOff x="0" y="0"/>
            <a:chExt cx="18632152" cy="26269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632137" cy="2626868"/>
            </a:xfrm>
            <a:custGeom>
              <a:avLst/>
              <a:gdLst/>
              <a:ahLst/>
              <a:cxnLst/>
              <a:rect l="l" t="t" r="r" b="b"/>
              <a:pathLst>
                <a:path w="18632137" h="2626868">
                  <a:moveTo>
                    <a:pt x="0" y="0"/>
                  </a:moveTo>
                  <a:lnTo>
                    <a:pt x="18632137" y="0"/>
                  </a:lnTo>
                  <a:lnTo>
                    <a:pt x="18632137" y="2626868"/>
                  </a:lnTo>
                  <a:lnTo>
                    <a:pt x="0" y="26268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8632152" cy="26650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281058" y="6272267"/>
            <a:ext cx="2856547" cy="4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1">
                <a:solidFill>
                  <a:srgbClr val="00206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PRESENTED BY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10861" y="6642941"/>
            <a:ext cx="7162739" cy="237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100" b="1" dirty="0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VH13542     Abinaya R    -  113023243001     -      VI Sem</a:t>
            </a:r>
          </a:p>
          <a:p>
            <a:pPr algn="just">
              <a:lnSpc>
                <a:spcPts val="3780"/>
              </a:lnSpc>
            </a:pPr>
            <a:r>
              <a:rPr lang="en-US" sz="2100" b="1" dirty="0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VH13543     Berly R  </a:t>
            </a:r>
            <a:r>
              <a:rPr lang="en-US" sz="2100" b="1" dirty="0" err="1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Plantina</a:t>
            </a:r>
            <a:r>
              <a:rPr lang="en-US" sz="2100" b="1" dirty="0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-  113023243016</a:t>
            </a:r>
            <a:r>
              <a:rPr lang="en-US" sz="2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-   </a:t>
            </a:r>
            <a:r>
              <a:rPr lang="en-US" sz="21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VI Sem</a:t>
            </a:r>
          </a:p>
          <a:p>
            <a:pPr algn="just">
              <a:lnSpc>
                <a:spcPts val="3780"/>
              </a:lnSpc>
            </a:pPr>
            <a:r>
              <a:rPr lang="en-US" sz="21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VH12919     </a:t>
            </a:r>
            <a:r>
              <a:rPr lang="en-US" sz="21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Darthi</a:t>
            </a:r>
            <a:r>
              <a:rPr lang="en-US" sz="21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    -  113023243019      -      VI Sem</a:t>
            </a:r>
          </a:p>
          <a:p>
            <a:pPr algn="just">
              <a:lnSpc>
                <a:spcPts val="3780"/>
              </a:lnSpc>
            </a:pPr>
            <a:r>
              <a:rPr lang="en-US" sz="21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VH12961     Nakshathra R – 113023243061    -  VI Sem</a:t>
            </a:r>
          </a:p>
          <a:p>
            <a:pPr algn="just">
              <a:lnSpc>
                <a:spcPts val="3780"/>
              </a:lnSpc>
            </a:pPr>
            <a:endParaRPr lang="en-US" sz="21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aphicFrame>
        <p:nvGraphicFramePr>
          <p:cNvPr id="40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07502"/>
              </p:ext>
            </p:extLst>
          </p:nvPr>
        </p:nvGraphicFramePr>
        <p:xfrm>
          <a:off x="8662035" y="8695148"/>
          <a:ext cx="9372600" cy="1536700"/>
        </p:xfrm>
        <a:graphic>
          <a:graphicData uri="http://schemas.openxmlformats.org/drawingml/2006/table">
            <a:tbl>
              <a:tblPr/>
              <a:tblGrid>
                <a:gridCol w="468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670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Supervisor</a:t>
                      </a:r>
                      <a:endParaRPr lang="en-US" sz="1100"/>
                    </a:p>
                    <a:p>
                      <a:pPr algn="just">
                        <a:lnSpc>
                          <a:spcPts val="3240"/>
                        </a:lnSpc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Mr. Ramajayam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         Head of the Department</a:t>
                      </a:r>
                      <a:endParaRPr lang="en-US" sz="1100" dirty="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           Dr. Sathish Kumar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TextBox 41"/>
          <p:cNvSpPr txBox="1"/>
          <p:nvPr/>
        </p:nvSpPr>
        <p:spPr>
          <a:xfrm>
            <a:off x="3285186" y="4371240"/>
            <a:ext cx="13641335" cy="184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00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HYBRID FEDERATED GENERATIVE AI WITH ADVERSARIAL RESILIENCE AND ZERO TRUST GOVERNANCE FOR SECURING CRITICAL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613106"/>
            <a:ext cx="16404431" cy="685800"/>
            <a:chOff x="0" y="0"/>
            <a:chExt cx="21872574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914400"/>
            </a:xfrm>
            <a:custGeom>
              <a:avLst/>
              <a:gdLst/>
              <a:ahLst/>
              <a:cxnLst/>
              <a:rect l="l" t="t" r="r" b="b"/>
              <a:pathLst>
                <a:path w="21872575" h="914400">
                  <a:moveTo>
                    <a:pt x="0" y="0"/>
                  </a:moveTo>
                  <a:lnTo>
                    <a:pt x="21872575" y="0"/>
                  </a:lnTo>
                  <a:lnTo>
                    <a:pt x="218725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37009" y="9515017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613106"/>
            <a:ext cx="950119" cy="685800"/>
            <a:chOff x="0" y="0"/>
            <a:chExt cx="1266825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914400"/>
            </a:xfrm>
            <a:custGeom>
              <a:avLst/>
              <a:gdLst/>
              <a:ahLst/>
              <a:cxnLst/>
              <a:rect l="l" t="t" r="r" b="b"/>
              <a:pathLst>
                <a:path w="1266825" h="914400">
                  <a:moveTo>
                    <a:pt x="0" y="0"/>
                  </a:moveTo>
                  <a:lnTo>
                    <a:pt x="1266825" y="0"/>
                  </a:lnTo>
                  <a:lnTo>
                    <a:pt x="126682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613106"/>
            <a:ext cx="950118" cy="685800"/>
            <a:chOff x="0" y="0"/>
            <a:chExt cx="1266824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914400"/>
            </a:xfrm>
            <a:custGeom>
              <a:avLst/>
              <a:gdLst/>
              <a:ahLst/>
              <a:cxnLst/>
              <a:rect l="l" t="t" r="r" b="b"/>
              <a:pathLst>
                <a:path w="1266824" h="914400">
                  <a:moveTo>
                    <a:pt x="0" y="0"/>
                  </a:moveTo>
                  <a:lnTo>
                    <a:pt x="1266824" y="0"/>
                  </a:lnTo>
                  <a:lnTo>
                    <a:pt x="126682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601200"/>
            <a:ext cx="950119" cy="707231"/>
            <a:chOff x="0" y="0"/>
            <a:chExt cx="1266825" cy="9429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942975"/>
            </a:xfrm>
            <a:custGeom>
              <a:avLst/>
              <a:gdLst/>
              <a:ahLst/>
              <a:cxnLst/>
              <a:rect l="l" t="t" r="r" b="b"/>
              <a:pathLst>
                <a:path w="1266825" h="942975">
                  <a:moveTo>
                    <a:pt x="0" y="0"/>
                  </a:moveTo>
                  <a:lnTo>
                    <a:pt x="1266825" y="0"/>
                  </a:lnTo>
                  <a:lnTo>
                    <a:pt x="1266825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638544" y="779858"/>
            <a:ext cx="5595271" cy="661807"/>
            <a:chOff x="0" y="0"/>
            <a:chExt cx="7460362" cy="8824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361" cy="882410"/>
            </a:xfrm>
            <a:custGeom>
              <a:avLst/>
              <a:gdLst/>
              <a:ahLst/>
              <a:cxnLst/>
              <a:rect l="l" t="t" r="r" b="b"/>
              <a:pathLst>
                <a:path w="7460361" h="882410">
                  <a:moveTo>
                    <a:pt x="0" y="78505"/>
                  </a:moveTo>
                  <a:cubicBezTo>
                    <a:pt x="0" y="35102"/>
                    <a:pt x="37592" y="0"/>
                    <a:pt x="84074" y="0"/>
                  </a:cubicBezTo>
                  <a:lnTo>
                    <a:pt x="7376287" y="0"/>
                  </a:lnTo>
                  <a:cubicBezTo>
                    <a:pt x="7422642" y="0"/>
                    <a:pt x="7460361" y="35102"/>
                    <a:pt x="7460361" y="78505"/>
                  </a:cubicBezTo>
                  <a:lnTo>
                    <a:pt x="7460361" y="803905"/>
                  </a:lnTo>
                  <a:cubicBezTo>
                    <a:pt x="7460361" y="847189"/>
                    <a:pt x="7422769" y="882410"/>
                    <a:pt x="7376287" y="882410"/>
                  </a:cubicBezTo>
                  <a:lnTo>
                    <a:pt x="84074" y="882410"/>
                  </a:lnTo>
                  <a:cubicBezTo>
                    <a:pt x="37592" y="882291"/>
                    <a:pt x="0" y="847189"/>
                    <a:pt x="0" y="803905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840693" y="779858"/>
            <a:ext cx="5595248" cy="780113"/>
            <a:chOff x="0" y="0"/>
            <a:chExt cx="7460331" cy="104015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460331" cy="1040151"/>
            </a:xfrm>
            <a:custGeom>
              <a:avLst/>
              <a:gdLst/>
              <a:ahLst/>
              <a:cxnLst/>
              <a:rect l="l" t="t" r="r" b="b"/>
              <a:pathLst>
                <a:path w="7460331" h="1040151">
                  <a:moveTo>
                    <a:pt x="0" y="0"/>
                  </a:moveTo>
                  <a:lnTo>
                    <a:pt x="7460331" y="0"/>
                  </a:lnTo>
                  <a:lnTo>
                    <a:pt x="7460331" y="1040151"/>
                  </a:lnTo>
                  <a:lnTo>
                    <a:pt x="0" y="1040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7460331" cy="11449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22"/>
                </a:lnSpc>
              </a:pPr>
              <a:r>
                <a:rPr lang="en-US" sz="3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1007" y="1981491"/>
            <a:ext cx="17856993" cy="7276809"/>
            <a:chOff x="0" y="0"/>
            <a:chExt cx="23809324" cy="97024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809379" cy="9702419"/>
            </a:xfrm>
            <a:custGeom>
              <a:avLst/>
              <a:gdLst/>
              <a:ahLst/>
              <a:cxnLst/>
              <a:rect l="l" t="t" r="r" b="b"/>
              <a:pathLst>
                <a:path w="23809379" h="9702419">
                  <a:moveTo>
                    <a:pt x="0" y="0"/>
                  </a:moveTo>
                  <a:lnTo>
                    <a:pt x="23809379" y="0"/>
                  </a:lnTo>
                  <a:lnTo>
                    <a:pt x="23809379" y="9702419"/>
                  </a:lnTo>
                  <a:lnTo>
                    <a:pt x="0" y="970241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07050" y="1840264"/>
            <a:ext cx="16304906" cy="724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sz="398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Critical infrastructure like power grids, hospitals, water systems, and transportation networks are prime cyberattack target.</a:t>
            </a:r>
          </a:p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sz="30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4941"/>
              </a:lnSpc>
              <a:spcBef>
                <a:spcPct val="0"/>
              </a:spcBef>
            </a:pPr>
            <a:r>
              <a:rPr lang="en-US" sz="35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Our proposed AI-powered framework will:</a:t>
            </a:r>
          </a:p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sz="30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05802" lvl="1" indent="-352901" algn="l">
              <a:lnSpc>
                <a:spcPts val="4576"/>
              </a:lnSpc>
              <a:buFont typeface="Arial"/>
              <a:buChar char="•"/>
            </a:pPr>
            <a:r>
              <a:rPr lang="en-US" sz="32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Learn from multiple sites without sharing sensitive data</a:t>
            </a:r>
          </a:p>
          <a:p>
            <a:pPr algn="l">
              <a:lnSpc>
                <a:spcPts val="4576"/>
              </a:lnSpc>
            </a:pPr>
            <a:endParaRPr lang="en-US" sz="326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05802" lvl="1" indent="-352901" algn="l">
              <a:lnSpc>
                <a:spcPts val="4576"/>
              </a:lnSpc>
              <a:buFont typeface="Arial"/>
              <a:buChar char="•"/>
            </a:pPr>
            <a:r>
              <a:rPr lang="en-US" sz="32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Resist hacker manipulation with adversarial resilience</a:t>
            </a:r>
          </a:p>
          <a:p>
            <a:pPr algn="l">
              <a:lnSpc>
                <a:spcPts val="4576"/>
              </a:lnSpc>
            </a:pPr>
            <a:r>
              <a:rPr lang="en-US" sz="32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05802" lvl="1" indent="-352901" algn="l">
              <a:lnSpc>
                <a:spcPts val="4576"/>
              </a:lnSpc>
              <a:buFont typeface="Arial"/>
              <a:buChar char="•"/>
            </a:pPr>
            <a:r>
              <a:rPr lang="en-US" sz="32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Enforce "Never Trust, Always Verify" security policies</a:t>
            </a:r>
          </a:p>
          <a:p>
            <a:pPr algn="l">
              <a:lnSpc>
                <a:spcPts val="4576"/>
              </a:lnSpc>
            </a:pPr>
            <a:r>
              <a:rPr lang="en-US" sz="32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05802" lvl="1" indent="-352901" algn="l">
              <a:lnSpc>
                <a:spcPts val="4576"/>
              </a:lnSpc>
              <a:buFont typeface="Arial"/>
              <a:buChar char="•"/>
            </a:pPr>
            <a:r>
              <a:rPr lang="en-US" sz="32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Ensure reliable, private, and secure operations for essential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513074"/>
            <a:ext cx="16404431" cy="785832"/>
            <a:chOff x="0" y="0"/>
            <a:chExt cx="21872574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914400"/>
            </a:xfrm>
            <a:custGeom>
              <a:avLst/>
              <a:gdLst/>
              <a:ahLst/>
              <a:cxnLst/>
              <a:rect l="l" t="t" r="r" b="b"/>
              <a:pathLst>
                <a:path w="21872575" h="914400">
                  <a:moveTo>
                    <a:pt x="0" y="0"/>
                  </a:moveTo>
                  <a:lnTo>
                    <a:pt x="21872575" y="0"/>
                  </a:lnTo>
                  <a:lnTo>
                    <a:pt x="218725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37009" y="8205722"/>
            <a:ext cx="16404430" cy="2271570"/>
            <a:chOff x="0" y="0"/>
            <a:chExt cx="21872573" cy="30287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773621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 dirty="0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513074"/>
            <a:ext cx="950119" cy="785832"/>
            <a:chOff x="0" y="0"/>
            <a:chExt cx="1266825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914400"/>
            </a:xfrm>
            <a:custGeom>
              <a:avLst/>
              <a:gdLst/>
              <a:ahLst/>
              <a:cxnLst/>
              <a:rect l="l" t="t" r="r" b="b"/>
              <a:pathLst>
                <a:path w="1266825" h="914400">
                  <a:moveTo>
                    <a:pt x="0" y="0"/>
                  </a:moveTo>
                  <a:lnTo>
                    <a:pt x="1266825" y="0"/>
                  </a:lnTo>
                  <a:lnTo>
                    <a:pt x="126682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 flipV="1">
            <a:off x="17311324" y="9467129"/>
            <a:ext cx="993345" cy="877495"/>
            <a:chOff x="-57635" y="0"/>
            <a:chExt cx="1324459" cy="9539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914400"/>
            </a:xfrm>
            <a:custGeom>
              <a:avLst/>
              <a:gdLst/>
              <a:ahLst/>
              <a:cxnLst/>
              <a:rect l="l" t="t" r="r" b="b"/>
              <a:pathLst>
                <a:path w="1266824" h="914400">
                  <a:moveTo>
                    <a:pt x="0" y="0"/>
                  </a:moveTo>
                  <a:lnTo>
                    <a:pt x="1266824" y="0"/>
                  </a:lnTo>
                  <a:lnTo>
                    <a:pt x="126682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 rot="10800000">
              <a:off x="-57635" y="39594"/>
              <a:ext cx="1266823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522600"/>
            <a:ext cx="950119" cy="785831"/>
            <a:chOff x="0" y="0"/>
            <a:chExt cx="1266825" cy="9429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942975"/>
            </a:xfrm>
            <a:custGeom>
              <a:avLst/>
              <a:gdLst/>
              <a:ahLst/>
              <a:cxnLst/>
              <a:rect l="l" t="t" r="r" b="b"/>
              <a:pathLst>
                <a:path w="1266825" h="942975">
                  <a:moveTo>
                    <a:pt x="0" y="0"/>
                  </a:moveTo>
                  <a:lnTo>
                    <a:pt x="1266825" y="0"/>
                  </a:lnTo>
                  <a:lnTo>
                    <a:pt x="1266825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914548" y="536733"/>
            <a:ext cx="5595271" cy="708756"/>
            <a:chOff x="0" y="0"/>
            <a:chExt cx="7460362" cy="9450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361" cy="945007"/>
            </a:xfrm>
            <a:custGeom>
              <a:avLst/>
              <a:gdLst/>
              <a:ahLst/>
              <a:cxnLst/>
              <a:rect l="l" t="t" r="r" b="b"/>
              <a:pathLst>
                <a:path w="7460361" h="945007">
                  <a:moveTo>
                    <a:pt x="0" y="84074"/>
                  </a:moveTo>
                  <a:cubicBezTo>
                    <a:pt x="0" y="37592"/>
                    <a:pt x="37592" y="0"/>
                    <a:pt x="84074" y="0"/>
                  </a:cubicBezTo>
                  <a:lnTo>
                    <a:pt x="7376287" y="0"/>
                  </a:lnTo>
                  <a:cubicBezTo>
                    <a:pt x="7422642" y="0"/>
                    <a:pt x="7460361" y="37592"/>
                    <a:pt x="7460361" y="84074"/>
                  </a:cubicBezTo>
                  <a:lnTo>
                    <a:pt x="7460361" y="860933"/>
                  </a:lnTo>
                  <a:cubicBezTo>
                    <a:pt x="7460361" y="907288"/>
                    <a:pt x="7422769" y="945007"/>
                    <a:pt x="7376287" y="945007"/>
                  </a:cubicBezTo>
                  <a:lnTo>
                    <a:pt x="84074" y="945007"/>
                  </a:lnTo>
                  <a:cubicBezTo>
                    <a:pt x="37592" y="944880"/>
                    <a:pt x="0" y="907288"/>
                    <a:pt x="0" y="860933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5914548" y="515302"/>
            <a:ext cx="5595248" cy="730108"/>
            <a:chOff x="0" y="0"/>
            <a:chExt cx="7460331" cy="97347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460331" cy="973478"/>
            </a:xfrm>
            <a:custGeom>
              <a:avLst/>
              <a:gdLst/>
              <a:ahLst/>
              <a:cxnLst/>
              <a:rect l="l" t="t" r="r" b="b"/>
              <a:pathLst>
                <a:path w="7460331" h="973478">
                  <a:moveTo>
                    <a:pt x="0" y="0"/>
                  </a:moveTo>
                  <a:lnTo>
                    <a:pt x="7460331" y="0"/>
                  </a:lnTo>
                  <a:lnTo>
                    <a:pt x="7460331" y="973478"/>
                  </a:lnTo>
                  <a:lnTo>
                    <a:pt x="0" y="973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7460331" cy="10687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07"/>
                </a:lnSpc>
              </a:pPr>
              <a:r>
                <a:rPr lang="en-US" sz="31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669583" y="2604309"/>
            <a:ext cx="11905179" cy="605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Protect infrastructure without exposing sensitive data</a:t>
            </a:r>
          </a:p>
          <a:p>
            <a:pPr algn="l">
              <a:lnSpc>
                <a:spcPts val="5319"/>
              </a:lnSpc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 models via hybrid federated learning</a:t>
            </a:r>
          </a:p>
          <a:p>
            <a:pPr algn="l">
              <a:lnSpc>
                <a:spcPts val="5319"/>
              </a:lnSpc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Build adversarial resistance</a:t>
            </a:r>
          </a:p>
          <a:p>
            <a:pPr algn="l">
              <a:lnSpc>
                <a:spcPts val="5319"/>
              </a:lnSpc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 Zero Trust governance</a:t>
            </a:r>
          </a:p>
          <a:p>
            <a:pPr algn="l">
              <a:lnSpc>
                <a:spcPts val="5319"/>
              </a:lnSpc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Enable real-time threat detection &amp; automated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613106"/>
            <a:ext cx="16404431" cy="685800"/>
            <a:chOff x="0" y="0"/>
            <a:chExt cx="21872574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914400"/>
            </a:xfrm>
            <a:custGeom>
              <a:avLst/>
              <a:gdLst/>
              <a:ahLst/>
              <a:cxnLst/>
              <a:rect l="l" t="t" r="r" b="b"/>
              <a:pathLst>
                <a:path w="21872575" h="914400">
                  <a:moveTo>
                    <a:pt x="0" y="0"/>
                  </a:moveTo>
                  <a:lnTo>
                    <a:pt x="21872575" y="0"/>
                  </a:lnTo>
                  <a:lnTo>
                    <a:pt x="218725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41785" y="9522600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613106"/>
            <a:ext cx="950119" cy="685800"/>
            <a:chOff x="0" y="0"/>
            <a:chExt cx="1266825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914400"/>
            </a:xfrm>
            <a:custGeom>
              <a:avLst/>
              <a:gdLst/>
              <a:ahLst/>
              <a:cxnLst/>
              <a:rect l="l" t="t" r="r" b="b"/>
              <a:pathLst>
                <a:path w="1266825" h="914400">
                  <a:moveTo>
                    <a:pt x="0" y="0"/>
                  </a:moveTo>
                  <a:lnTo>
                    <a:pt x="1266825" y="0"/>
                  </a:lnTo>
                  <a:lnTo>
                    <a:pt x="126682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613106"/>
            <a:ext cx="950118" cy="685800"/>
            <a:chOff x="0" y="0"/>
            <a:chExt cx="1266824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914400"/>
            </a:xfrm>
            <a:custGeom>
              <a:avLst/>
              <a:gdLst/>
              <a:ahLst/>
              <a:cxnLst/>
              <a:rect l="l" t="t" r="r" b="b"/>
              <a:pathLst>
                <a:path w="1266824" h="914400">
                  <a:moveTo>
                    <a:pt x="0" y="0"/>
                  </a:moveTo>
                  <a:lnTo>
                    <a:pt x="1266824" y="0"/>
                  </a:lnTo>
                  <a:lnTo>
                    <a:pt x="126682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601200"/>
            <a:ext cx="950119" cy="707231"/>
            <a:chOff x="0" y="0"/>
            <a:chExt cx="1266825" cy="9429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942975"/>
            </a:xfrm>
            <a:custGeom>
              <a:avLst/>
              <a:gdLst/>
              <a:ahLst/>
              <a:cxnLst/>
              <a:rect l="l" t="t" r="r" b="b"/>
              <a:pathLst>
                <a:path w="1266825" h="942975">
                  <a:moveTo>
                    <a:pt x="0" y="0"/>
                  </a:moveTo>
                  <a:lnTo>
                    <a:pt x="1266825" y="0"/>
                  </a:lnTo>
                  <a:lnTo>
                    <a:pt x="1266825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245409" y="829761"/>
            <a:ext cx="8590510" cy="997951"/>
            <a:chOff x="0" y="0"/>
            <a:chExt cx="11454014" cy="13306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54012" cy="1330601"/>
            </a:xfrm>
            <a:custGeom>
              <a:avLst/>
              <a:gdLst/>
              <a:ahLst/>
              <a:cxnLst/>
              <a:rect l="l" t="t" r="r" b="b"/>
              <a:pathLst>
                <a:path w="11454012" h="1330601">
                  <a:moveTo>
                    <a:pt x="0" y="118379"/>
                  </a:moveTo>
                  <a:cubicBezTo>
                    <a:pt x="0" y="52931"/>
                    <a:pt x="57716" y="0"/>
                    <a:pt x="129080" y="0"/>
                  </a:cubicBezTo>
                  <a:lnTo>
                    <a:pt x="11324933" y="0"/>
                  </a:lnTo>
                  <a:cubicBezTo>
                    <a:pt x="11396103" y="0"/>
                    <a:pt x="11454012" y="52931"/>
                    <a:pt x="11454012" y="118379"/>
                  </a:cubicBezTo>
                  <a:lnTo>
                    <a:pt x="11454012" y="1212222"/>
                  </a:lnTo>
                  <a:cubicBezTo>
                    <a:pt x="11454012" y="1277491"/>
                    <a:pt x="11396297" y="1330601"/>
                    <a:pt x="11324933" y="1330601"/>
                  </a:cubicBezTo>
                  <a:lnTo>
                    <a:pt x="129080" y="1330601"/>
                  </a:lnTo>
                  <a:cubicBezTo>
                    <a:pt x="57716" y="1330422"/>
                    <a:pt x="0" y="1277491"/>
                    <a:pt x="0" y="1212222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4865465" y="2272172"/>
            <a:ext cx="9350398" cy="753093"/>
            <a:chOff x="0" y="0"/>
            <a:chExt cx="12467197" cy="10041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467197" cy="1004124"/>
            </a:xfrm>
            <a:custGeom>
              <a:avLst/>
              <a:gdLst/>
              <a:ahLst/>
              <a:cxnLst/>
              <a:rect l="l" t="t" r="r" b="b"/>
              <a:pathLst>
                <a:path w="12467197" h="1004124">
                  <a:moveTo>
                    <a:pt x="0" y="0"/>
                  </a:moveTo>
                  <a:lnTo>
                    <a:pt x="12467197" y="0"/>
                  </a:lnTo>
                  <a:lnTo>
                    <a:pt x="12467197" y="1004124"/>
                  </a:lnTo>
                  <a:lnTo>
                    <a:pt x="0" y="10041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14300"/>
              <a:ext cx="12467197" cy="1118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06"/>
                </a:lnSpc>
              </a:pPr>
              <a:r>
                <a:rPr lang="en-US" sz="38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Existing Systems 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0118" y="2272172"/>
            <a:ext cx="16441838" cy="6252241"/>
            <a:chOff x="0" y="0"/>
            <a:chExt cx="21922451" cy="833632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22451" cy="8336321"/>
            </a:xfrm>
            <a:custGeom>
              <a:avLst/>
              <a:gdLst/>
              <a:ahLst/>
              <a:cxnLst/>
              <a:rect l="l" t="t" r="r" b="b"/>
              <a:pathLst>
                <a:path w="21922451" h="8336321">
                  <a:moveTo>
                    <a:pt x="0" y="0"/>
                  </a:moveTo>
                  <a:lnTo>
                    <a:pt x="21922451" y="0"/>
                  </a:lnTo>
                  <a:lnTo>
                    <a:pt x="21922451" y="8336321"/>
                  </a:lnTo>
                  <a:lnTo>
                    <a:pt x="0" y="83363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21922451" cy="8422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928882" lvl="2" indent="-309627" algn="l">
                <a:lnSpc>
                  <a:spcPts val="5278"/>
                </a:lnSpc>
                <a:buFont typeface="Arial"/>
                <a:buChar char="⚬"/>
              </a:pPr>
              <a:endParaRPr/>
            </a:p>
            <a:p>
              <a:pPr marL="928882" lvl="2" indent="-309627" algn="l">
                <a:lnSpc>
                  <a:spcPts val="5278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409521" y="888479"/>
            <a:ext cx="8426398" cy="79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5"/>
              </a:lnSpc>
              <a:spcBef>
                <a:spcPct val="0"/>
              </a:spcBef>
            </a:pPr>
            <a:r>
              <a:rPr lang="en-US" sz="416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Systems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14795" y="2892586"/>
            <a:ext cx="14415849" cy="541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Security Approaches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Centralized AI models that require all data in one place pose a high privacy risk</a:t>
            </a:r>
          </a:p>
          <a:p>
            <a:pPr algn="l">
              <a:lnSpc>
                <a:spcPts val="4620"/>
              </a:lnSpc>
            </a:pPr>
            <a:endParaRPr lang="en-US" sz="33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Vulnerable to adversarial attacks</a:t>
            </a:r>
          </a:p>
          <a:p>
            <a:pPr algn="l">
              <a:lnSpc>
                <a:spcPts val="4620"/>
              </a:lnSpc>
            </a:pPr>
            <a:r>
              <a:rPr lang="en-US" sz="3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Static security policies</a:t>
            </a:r>
          </a:p>
          <a:p>
            <a:pPr algn="l">
              <a:lnSpc>
                <a:spcPts val="4620"/>
              </a:lnSpc>
            </a:pPr>
            <a:r>
              <a:rPr lang="en-US" sz="3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Limited adaptability to unknown threats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613106"/>
            <a:ext cx="16404431" cy="685800"/>
            <a:chOff x="0" y="0"/>
            <a:chExt cx="21872574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914400"/>
            </a:xfrm>
            <a:custGeom>
              <a:avLst/>
              <a:gdLst/>
              <a:ahLst/>
              <a:cxnLst/>
              <a:rect l="l" t="t" r="r" b="b"/>
              <a:pathLst>
                <a:path w="21872575" h="914400">
                  <a:moveTo>
                    <a:pt x="0" y="0"/>
                  </a:moveTo>
                  <a:lnTo>
                    <a:pt x="21872575" y="0"/>
                  </a:lnTo>
                  <a:lnTo>
                    <a:pt x="218725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41785" y="9522600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613106"/>
            <a:ext cx="950119" cy="685800"/>
            <a:chOff x="0" y="0"/>
            <a:chExt cx="1266825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914400"/>
            </a:xfrm>
            <a:custGeom>
              <a:avLst/>
              <a:gdLst/>
              <a:ahLst/>
              <a:cxnLst/>
              <a:rect l="l" t="t" r="r" b="b"/>
              <a:pathLst>
                <a:path w="1266825" h="914400">
                  <a:moveTo>
                    <a:pt x="0" y="0"/>
                  </a:moveTo>
                  <a:lnTo>
                    <a:pt x="1266825" y="0"/>
                  </a:lnTo>
                  <a:lnTo>
                    <a:pt x="126682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613106"/>
            <a:ext cx="950118" cy="685800"/>
            <a:chOff x="0" y="0"/>
            <a:chExt cx="1266824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914400"/>
            </a:xfrm>
            <a:custGeom>
              <a:avLst/>
              <a:gdLst/>
              <a:ahLst/>
              <a:cxnLst/>
              <a:rect l="l" t="t" r="r" b="b"/>
              <a:pathLst>
                <a:path w="1266824" h="914400">
                  <a:moveTo>
                    <a:pt x="0" y="0"/>
                  </a:moveTo>
                  <a:lnTo>
                    <a:pt x="1266824" y="0"/>
                  </a:lnTo>
                  <a:lnTo>
                    <a:pt x="126682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601200"/>
            <a:ext cx="950119" cy="707231"/>
            <a:chOff x="0" y="0"/>
            <a:chExt cx="1266825" cy="9429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942975"/>
            </a:xfrm>
            <a:custGeom>
              <a:avLst/>
              <a:gdLst/>
              <a:ahLst/>
              <a:cxnLst/>
              <a:rect l="l" t="t" r="r" b="b"/>
              <a:pathLst>
                <a:path w="1266825" h="942975">
                  <a:moveTo>
                    <a:pt x="0" y="0"/>
                  </a:moveTo>
                  <a:lnTo>
                    <a:pt x="1266825" y="0"/>
                  </a:lnTo>
                  <a:lnTo>
                    <a:pt x="1266825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914548" y="536733"/>
            <a:ext cx="5595271" cy="936601"/>
            <a:chOff x="0" y="0"/>
            <a:chExt cx="7460362" cy="12488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361" cy="1248801"/>
            </a:xfrm>
            <a:custGeom>
              <a:avLst/>
              <a:gdLst/>
              <a:ahLst/>
              <a:cxnLst/>
              <a:rect l="l" t="t" r="r" b="b"/>
              <a:pathLst>
                <a:path w="7460361" h="1248801">
                  <a:moveTo>
                    <a:pt x="0" y="111102"/>
                  </a:moveTo>
                  <a:cubicBezTo>
                    <a:pt x="0" y="49677"/>
                    <a:pt x="37592" y="0"/>
                    <a:pt x="84074" y="0"/>
                  </a:cubicBezTo>
                  <a:lnTo>
                    <a:pt x="7376287" y="0"/>
                  </a:lnTo>
                  <a:cubicBezTo>
                    <a:pt x="7422642" y="0"/>
                    <a:pt x="7460361" y="49677"/>
                    <a:pt x="7460361" y="111102"/>
                  </a:cubicBezTo>
                  <a:lnTo>
                    <a:pt x="7460361" y="1137700"/>
                  </a:lnTo>
                  <a:cubicBezTo>
                    <a:pt x="7460361" y="1198957"/>
                    <a:pt x="7422769" y="1248801"/>
                    <a:pt x="7376287" y="1248801"/>
                  </a:cubicBezTo>
                  <a:lnTo>
                    <a:pt x="84074" y="1248801"/>
                  </a:lnTo>
                  <a:cubicBezTo>
                    <a:pt x="37592" y="1248633"/>
                    <a:pt x="0" y="1198957"/>
                    <a:pt x="0" y="1137700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245057" y="544036"/>
            <a:ext cx="4934253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38400" y="2417038"/>
            <a:ext cx="14652308" cy="601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Hybrid Federated AI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Federated + Hybrid AI learns from many sites without moving raw data</a:t>
            </a:r>
          </a:p>
          <a:p>
            <a:pPr algn="l">
              <a:lnSpc>
                <a:spcPts val="5179"/>
              </a:lnSpc>
            </a:pPr>
            <a:endParaRPr lang="en-US" sz="36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Built-in adversarial resilience</a:t>
            </a:r>
          </a:p>
          <a:p>
            <a:pPr algn="l">
              <a:lnSpc>
                <a:spcPts val="5179"/>
              </a:lnSpc>
            </a:pPr>
            <a:r>
              <a:rPr lang="en-US" sz="36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Zero Trust with dynamic verification of every action</a:t>
            </a:r>
          </a:p>
          <a:p>
            <a:pPr algn="l">
              <a:lnSpc>
                <a:spcPts val="5179"/>
              </a:lnSpc>
            </a:pPr>
            <a:r>
              <a:rPr lang="en-US" sz="36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Generative AI for synthetic data and continuous model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54869" y="9551193"/>
            <a:ext cx="16404431" cy="685800"/>
            <a:chOff x="0" y="0"/>
            <a:chExt cx="21872574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914400"/>
            </a:xfrm>
            <a:custGeom>
              <a:avLst/>
              <a:gdLst/>
              <a:ahLst/>
              <a:cxnLst/>
              <a:rect l="l" t="t" r="r" b="b"/>
              <a:pathLst>
                <a:path w="21872575" h="914400">
                  <a:moveTo>
                    <a:pt x="0" y="0"/>
                  </a:moveTo>
                  <a:lnTo>
                    <a:pt x="21872575" y="0"/>
                  </a:lnTo>
                  <a:lnTo>
                    <a:pt x="218725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52512" y="9467469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613106"/>
            <a:ext cx="950119" cy="685800"/>
            <a:chOff x="0" y="0"/>
            <a:chExt cx="1266825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914400"/>
            </a:xfrm>
            <a:custGeom>
              <a:avLst/>
              <a:gdLst/>
              <a:ahLst/>
              <a:cxnLst/>
              <a:rect l="l" t="t" r="r" b="b"/>
              <a:pathLst>
                <a:path w="1266825" h="914400">
                  <a:moveTo>
                    <a:pt x="0" y="0"/>
                  </a:moveTo>
                  <a:lnTo>
                    <a:pt x="1266825" y="0"/>
                  </a:lnTo>
                  <a:lnTo>
                    <a:pt x="126682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613106"/>
            <a:ext cx="950118" cy="685800"/>
            <a:chOff x="0" y="0"/>
            <a:chExt cx="1266824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914400"/>
            </a:xfrm>
            <a:custGeom>
              <a:avLst/>
              <a:gdLst/>
              <a:ahLst/>
              <a:cxnLst/>
              <a:rect l="l" t="t" r="r" b="b"/>
              <a:pathLst>
                <a:path w="1266824" h="914400">
                  <a:moveTo>
                    <a:pt x="0" y="0"/>
                  </a:moveTo>
                  <a:lnTo>
                    <a:pt x="1266824" y="0"/>
                  </a:lnTo>
                  <a:lnTo>
                    <a:pt x="126682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522600"/>
            <a:ext cx="950119" cy="785831"/>
            <a:chOff x="0" y="0"/>
            <a:chExt cx="1266825" cy="10477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1047775"/>
            </a:xfrm>
            <a:custGeom>
              <a:avLst/>
              <a:gdLst/>
              <a:ahLst/>
              <a:cxnLst/>
              <a:rect l="l" t="t" r="r" b="b"/>
              <a:pathLst>
                <a:path w="1266825" h="1047775">
                  <a:moveTo>
                    <a:pt x="0" y="0"/>
                  </a:moveTo>
                  <a:lnTo>
                    <a:pt x="1266825" y="0"/>
                  </a:lnTo>
                  <a:lnTo>
                    <a:pt x="1266825" y="1047775"/>
                  </a:lnTo>
                  <a:lnTo>
                    <a:pt x="0" y="10477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121116" y="553243"/>
            <a:ext cx="5595271" cy="708756"/>
            <a:chOff x="0" y="0"/>
            <a:chExt cx="7460362" cy="9450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361" cy="945007"/>
            </a:xfrm>
            <a:custGeom>
              <a:avLst/>
              <a:gdLst/>
              <a:ahLst/>
              <a:cxnLst/>
              <a:rect l="l" t="t" r="r" b="b"/>
              <a:pathLst>
                <a:path w="7460361" h="945007">
                  <a:moveTo>
                    <a:pt x="0" y="84074"/>
                  </a:moveTo>
                  <a:cubicBezTo>
                    <a:pt x="0" y="37592"/>
                    <a:pt x="37592" y="0"/>
                    <a:pt x="84074" y="0"/>
                  </a:cubicBezTo>
                  <a:lnTo>
                    <a:pt x="7376287" y="0"/>
                  </a:lnTo>
                  <a:cubicBezTo>
                    <a:pt x="7422642" y="0"/>
                    <a:pt x="7460361" y="37592"/>
                    <a:pt x="7460361" y="84074"/>
                  </a:cubicBezTo>
                  <a:lnTo>
                    <a:pt x="7460361" y="860933"/>
                  </a:lnTo>
                  <a:cubicBezTo>
                    <a:pt x="7460361" y="907288"/>
                    <a:pt x="7422769" y="945007"/>
                    <a:pt x="7376287" y="945007"/>
                  </a:cubicBezTo>
                  <a:lnTo>
                    <a:pt x="84074" y="945007"/>
                  </a:lnTo>
                  <a:cubicBezTo>
                    <a:pt x="37592" y="944880"/>
                    <a:pt x="0" y="907288"/>
                    <a:pt x="0" y="860933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121116" y="553561"/>
            <a:ext cx="5595271" cy="70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3399" y="2280964"/>
            <a:ext cx="15542657" cy="6447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Surge in cyberattacks targeting critical infrastructure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Centralized models risk privacy violations &amp; compliance issues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can be tricked with adversarial inputs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Many systems still trust internal users/devices without verification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6019"/>
              </a:lnSpc>
            </a:pPr>
            <a:r>
              <a:rPr lang="en-US" sz="42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NEED: A privacy-friendly, hacker-resilient, zero-trust AI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522600"/>
            <a:ext cx="16404431" cy="776306"/>
            <a:chOff x="0" y="0"/>
            <a:chExt cx="21872574" cy="10350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1035075"/>
            </a:xfrm>
            <a:custGeom>
              <a:avLst/>
              <a:gdLst/>
              <a:ahLst/>
              <a:cxnLst/>
              <a:rect l="l" t="t" r="r" b="b"/>
              <a:pathLst>
                <a:path w="21872575" h="1035075">
                  <a:moveTo>
                    <a:pt x="0" y="0"/>
                  </a:moveTo>
                  <a:lnTo>
                    <a:pt x="21872575" y="0"/>
                  </a:lnTo>
                  <a:lnTo>
                    <a:pt x="21872575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4870" y="9450809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522600"/>
            <a:ext cx="950119" cy="776306"/>
            <a:chOff x="0" y="0"/>
            <a:chExt cx="1266825" cy="10350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1035075"/>
            </a:xfrm>
            <a:custGeom>
              <a:avLst/>
              <a:gdLst/>
              <a:ahLst/>
              <a:cxnLst/>
              <a:rect l="l" t="t" r="r" b="b"/>
              <a:pathLst>
                <a:path w="1266825" h="1035075">
                  <a:moveTo>
                    <a:pt x="0" y="0"/>
                  </a:moveTo>
                  <a:lnTo>
                    <a:pt x="1266825" y="0"/>
                  </a:lnTo>
                  <a:lnTo>
                    <a:pt x="1266825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579786"/>
            <a:ext cx="950118" cy="719120"/>
            <a:chOff x="0" y="0"/>
            <a:chExt cx="1266824" cy="95882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958827"/>
            </a:xfrm>
            <a:custGeom>
              <a:avLst/>
              <a:gdLst/>
              <a:ahLst/>
              <a:cxnLst/>
              <a:rect l="l" t="t" r="r" b="b"/>
              <a:pathLst>
                <a:path w="1266824" h="958827">
                  <a:moveTo>
                    <a:pt x="0" y="0"/>
                  </a:moveTo>
                  <a:lnTo>
                    <a:pt x="1266824" y="0"/>
                  </a:lnTo>
                  <a:lnTo>
                    <a:pt x="1266824" y="958827"/>
                  </a:lnTo>
                  <a:lnTo>
                    <a:pt x="0" y="9588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9588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522600"/>
            <a:ext cx="950119" cy="785831"/>
            <a:chOff x="0" y="0"/>
            <a:chExt cx="1266825" cy="10477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1047775"/>
            </a:xfrm>
            <a:custGeom>
              <a:avLst/>
              <a:gdLst/>
              <a:ahLst/>
              <a:cxnLst/>
              <a:rect l="l" t="t" r="r" b="b"/>
              <a:pathLst>
                <a:path w="1266825" h="1047775">
                  <a:moveTo>
                    <a:pt x="0" y="0"/>
                  </a:moveTo>
                  <a:lnTo>
                    <a:pt x="1266825" y="0"/>
                  </a:lnTo>
                  <a:lnTo>
                    <a:pt x="1266825" y="1047775"/>
                  </a:lnTo>
                  <a:lnTo>
                    <a:pt x="0" y="10477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406600" y="1028700"/>
            <a:ext cx="8817735" cy="708756"/>
            <a:chOff x="0" y="0"/>
            <a:chExt cx="11756980" cy="9450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756979" cy="945007"/>
            </a:xfrm>
            <a:custGeom>
              <a:avLst/>
              <a:gdLst/>
              <a:ahLst/>
              <a:cxnLst/>
              <a:rect l="l" t="t" r="r" b="b"/>
              <a:pathLst>
                <a:path w="11756979" h="945007">
                  <a:moveTo>
                    <a:pt x="0" y="84074"/>
                  </a:moveTo>
                  <a:cubicBezTo>
                    <a:pt x="0" y="37592"/>
                    <a:pt x="59242" y="0"/>
                    <a:pt x="132494" y="0"/>
                  </a:cubicBezTo>
                  <a:lnTo>
                    <a:pt x="11624485" y="0"/>
                  </a:lnTo>
                  <a:cubicBezTo>
                    <a:pt x="11697537" y="0"/>
                    <a:pt x="11756979" y="37592"/>
                    <a:pt x="11756979" y="84074"/>
                  </a:cubicBezTo>
                  <a:lnTo>
                    <a:pt x="11756979" y="860933"/>
                  </a:lnTo>
                  <a:cubicBezTo>
                    <a:pt x="11756979" y="907288"/>
                    <a:pt x="11697736" y="945007"/>
                    <a:pt x="11624485" y="945007"/>
                  </a:cubicBezTo>
                  <a:lnTo>
                    <a:pt x="132494" y="945007"/>
                  </a:lnTo>
                  <a:cubicBezTo>
                    <a:pt x="59242" y="944880"/>
                    <a:pt x="0" y="907288"/>
                    <a:pt x="0" y="860933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4613168" y="984615"/>
            <a:ext cx="8053433" cy="66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Planned MVP Features (Phase 1):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21787" y="1963998"/>
            <a:ext cx="14508446" cy="708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2687" lvl="1" indent="-476344" algn="l">
              <a:lnSpc>
                <a:spcPts val="6177"/>
              </a:lnSpc>
              <a:buFont typeface="Arial"/>
              <a:buChar char="•"/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Federated AI training across multiple sites</a:t>
            </a:r>
          </a:p>
          <a:p>
            <a:pPr algn="l">
              <a:lnSpc>
                <a:spcPts val="6177"/>
              </a:lnSpc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952687" lvl="1" indent="-476344" algn="l">
              <a:lnSpc>
                <a:spcPts val="6177"/>
              </a:lnSpc>
              <a:buFont typeface="Arial"/>
              <a:buChar char="•"/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Generative AI for synthetic training/testing data</a:t>
            </a:r>
          </a:p>
          <a:p>
            <a:pPr algn="l">
              <a:lnSpc>
                <a:spcPts val="6177"/>
              </a:lnSpc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952687" lvl="1" indent="-476344" algn="l">
              <a:lnSpc>
                <a:spcPts val="6177"/>
              </a:lnSpc>
              <a:buFont typeface="Arial"/>
              <a:buChar char="•"/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anomaly detection</a:t>
            </a:r>
          </a:p>
          <a:p>
            <a:pPr algn="l">
              <a:lnSpc>
                <a:spcPts val="6177"/>
              </a:lnSpc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952687" lvl="1" indent="-476344" algn="l">
              <a:lnSpc>
                <a:spcPts val="6177"/>
              </a:lnSpc>
              <a:buFont typeface="Arial"/>
              <a:buChar char="•"/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Trust authentication for all access points</a:t>
            </a:r>
          </a:p>
          <a:p>
            <a:pPr algn="l">
              <a:lnSpc>
                <a:spcPts val="6177"/>
              </a:lnSpc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952687" lvl="1" indent="-476344" algn="l">
              <a:lnSpc>
                <a:spcPts val="6177"/>
              </a:lnSpc>
              <a:buFont typeface="Arial"/>
              <a:buChar char="•"/>
            </a:pPr>
            <a:r>
              <a:rPr lang="en-US" sz="44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dashboard for threat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510751"/>
            <a:ext cx="16404431" cy="788155"/>
            <a:chOff x="0" y="0"/>
            <a:chExt cx="21872574" cy="10508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1050873"/>
            </a:xfrm>
            <a:custGeom>
              <a:avLst/>
              <a:gdLst/>
              <a:ahLst/>
              <a:cxnLst/>
              <a:rect l="l" t="t" r="r" b="b"/>
              <a:pathLst>
                <a:path w="21872575" h="1050873">
                  <a:moveTo>
                    <a:pt x="0" y="0"/>
                  </a:moveTo>
                  <a:lnTo>
                    <a:pt x="21872575" y="0"/>
                  </a:lnTo>
                  <a:lnTo>
                    <a:pt x="21872575" y="1050873"/>
                  </a:lnTo>
                  <a:lnTo>
                    <a:pt x="0" y="1050873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4870" y="9510751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510751"/>
            <a:ext cx="950119" cy="788155"/>
            <a:chOff x="0" y="0"/>
            <a:chExt cx="1266825" cy="10508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1050873"/>
            </a:xfrm>
            <a:custGeom>
              <a:avLst/>
              <a:gdLst/>
              <a:ahLst/>
              <a:cxnLst/>
              <a:rect l="l" t="t" r="r" b="b"/>
              <a:pathLst>
                <a:path w="1266825" h="1050873">
                  <a:moveTo>
                    <a:pt x="0" y="0"/>
                  </a:moveTo>
                  <a:lnTo>
                    <a:pt x="1266825" y="0"/>
                  </a:lnTo>
                  <a:lnTo>
                    <a:pt x="1266825" y="1050873"/>
                  </a:lnTo>
                  <a:lnTo>
                    <a:pt x="0" y="1050873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522600"/>
            <a:ext cx="950118" cy="776306"/>
            <a:chOff x="0" y="0"/>
            <a:chExt cx="1266824" cy="10350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1035075"/>
            </a:xfrm>
            <a:custGeom>
              <a:avLst/>
              <a:gdLst/>
              <a:ahLst/>
              <a:cxnLst/>
              <a:rect l="l" t="t" r="r" b="b"/>
              <a:pathLst>
                <a:path w="1266824" h="1035075">
                  <a:moveTo>
                    <a:pt x="0" y="0"/>
                  </a:moveTo>
                  <a:lnTo>
                    <a:pt x="1266824" y="0"/>
                  </a:lnTo>
                  <a:lnTo>
                    <a:pt x="1266824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1035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510751"/>
            <a:ext cx="950119" cy="797680"/>
            <a:chOff x="0" y="0"/>
            <a:chExt cx="1266825" cy="10635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1063574"/>
            </a:xfrm>
            <a:custGeom>
              <a:avLst/>
              <a:gdLst/>
              <a:ahLst/>
              <a:cxnLst/>
              <a:rect l="l" t="t" r="r" b="b"/>
              <a:pathLst>
                <a:path w="1266825" h="1063574">
                  <a:moveTo>
                    <a:pt x="0" y="0"/>
                  </a:moveTo>
                  <a:lnTo>
                    <a:pt x="1266825" y="0"/>
                  </a:lnTo>
                  <a:lnTo>
                    <a:pt x="1266825" y="1063574"/>
                  </a:lnTo>
                  <a:lnTo>
                    <a:pt x="0" y="1063574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914548" y="536733"/>
            <a:ext cx="5595271" cy="708756"/>
            <a:chOff x="0" y="0"/>
            <a:chExt cx="7460362" cy="9450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361" cy="945007"/>
            </a:xfrm>
            <a:custGeom>
              <a:avLst/>
              <a:gdLst/>
              <a:ahLst/>
              <a:cxnLst/>
              <a:rect l="l" t="t" r="r" b="b"/>
              <a:pathLst>
                <a:path w="7460361" h="945007">
                  <a:moveTo>
                    <a:pt x="0" y="84074"/>
                  </a:moveTo>
                  <a:cubicBezTo>
                    <a:pt x="0" y="37592"/>
                    <a:pt x="37592" y="0"/>
                    <a:pt x="84074" y="0"/>
                  </a:cubicBezTo>
                  <a:lnTo>
                    <a:pt x="7376287" y="0"/>
                  </a:lnTo>
                  <a:cubicBezTo>
                    <a:pt x="7422642" y="0"/>
                    <a:pt x="7460361" y="37592"/>
                    <a:pt x="7460361" y="84074"/>
                  </a:cubicBezTo>
                  <a:lnTo>
                    <a:pt x="7460361" y="860933"/>
                  </a:lnTo>
                  <a:cubicBezTo>
                    <a:pt x="7460361" y="907288"/>
                    <a:pt x="7422769" y="945007"/>
                    <a:pt x="7376287" y="945007"/>
                  </a:cubicBezTo>
                  <a:lnTo>
                    <a:pt x="84074" y="945007"/>
                  </a:lnTo>
                  <a:cubicBezTo>
                    <a:pt x="37592" y="944880"/>
                    <a:pt x="0" y="907288"/>
                    <a:pt x="0" y="860933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5914548" y="536733"/>
            <a:ext cx="5595248" cy="730108"/>
            <a:chOff x="0" y="0"/>
            <a:chExt cx="7460331" cy="97347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460331" cy="973478"/>
            </a:xfrm>
            <a:custGeom>
              <a:avLst/>
              <a:gdLst/>
              <a:ahLst/>
              <a:cxnLst/>
              <a:rect l="l" t="t" r="r" b="b"/>
              <a:pathLst>
                <a:path w="7460331" h="973478">
                  <a:moveTo>
                    <a:pt x="0" y="0"/>
                  </a:moveTo>
                  <a:lnTo>
                    <a:pt x="7460331" y="0"/>
                  </a:lnTo>
                  <a:lnTo>
                    <a:pt x="7460331" y="973478"/>
                  </a:lnTo>
                  <a:lnTo>
                    <a:pt x="0" y="973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7460331" cy="10687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36"/>
                </a:lnSpc>
              </a:pPr>
              <a:r>
                <a:rPr lang="en-US" sz="32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Architectural  Diagram</a:t>
              </a:r>
              <a:r>
                <a:rPr lang="en-US" sz="32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984444" y="1328737"/>
            <a:ext cx="15090095" cy="7929563"/>
          </a:xfrm>
          <a:custGeom>
            <a:avLst/>
            <a:gdLst/>
            <a:ahLst/>
            <a:cxnLst/>
            <a:rect l="l" t="t" r="r" b="b"/>
            <a:pathLst>
              <a:path w="15090095" h="7929563">
                <a:moveTo>
                  <a:pt x="0" y="0"/>
                </a:moveTo>
                <a:lnTo>
                  <a:pt x="15090095" y="0"/>
                </a:lnTo>
                <a:lnTo>
                  <a:pt x="15090095" y="7929563"/>
                </a:lnTo>
                <a:lnTo>
                  <a:pt x="0" y="7929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41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522600"/>
            <a:ext cx="16404431" cy="776306"/>
            <a:chOff x="0" y="0"/>
            <a:chExt cx="21872574" cy="10350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1035075"/>
            </a:xfrm>
            <a:custGeom>
              <a:avLst/>
              <a:gdLst/>
              <a:ahLst/>
              <a:cxnLst/>
              <a:rect l="l" t="t" r="r" b="b"/>
              <a:pathLst>
                <a:path w="21872575" h="1035075">
                  <a:moveTo>
                    <a:pt x="0" y="0"/>
                  </a:moveTo>
                  <a:lnTo>
                    <a:pt x="21872575" y="0"/>
                  </a:lnTo>
                  <a:lnTo>
                    <a:pt x="21872575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41785" y="9436512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522600"/>
            <a:ext cx="950119" cy="776306"/>
            <a:chOff x="0" y="0"/>
            <a:chExt cx="1266825" cy="10350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1035075"/>
            </a:xfrm>
            <a:custGeom>
              <a:avLst/>
              <a:gdLst/>
              <a:ahLst/>
              <a:cxnLst/>
              <a:rect l="l" t="t" r="r" b="b"/>
              <a:pathLst>
                <a:path w="1266825" h="1035075">
                  <a:moveTo>
                    <a:pt x="0" y="0"/>
                  </a:moveTo>
                  <a:lnTo>
                    <a:pt x="1266825" y="0"/>
                  </a:lnTo>
                  <a:lnTo>
                    <a:pt x="1266825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551193"/>
            <a:ext cx="950118" cy="747713"/>
            <a:chOff x="0" y="0"/>
            <a:chExt cx="1266824" cy="9969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996951"/>
            </a:xfrm>
            <a:custGeom>
              <a:avLst/>
              <a:gdLst/>
              <a:ahLst/>
              <a:cxnLst/>
              <a:rect l="l" t="t" r="r" b="b"/>
              <a:pathLst>
                <a:path w="1266824" h="996951">
                  <a:moveTo>
                    <a:pt x="0" y="0"/>
                  </a:moveTo>
                  <a:lnTo>
                    <a:pt x="1266824" y="0"/>
                  </a:lnTo>
                  <a:lnTo>
                    <a:pt x="1266824" y="996951"/>
                  </a:lnTo>
                  <a:lnTo>
                    <a:pt x="0" y="996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9969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8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522600"/>
            <a:ext cx="950119" cy="785831"/>
            <a:chOff x="0" y="0"/>
            <a:chExt cx="1266825" cy="10477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1047775"/>
            </a:xfrm>
            <a:custGeom>
              <a:avLst/>
              <a:gdLst/>
              <a:ahLst/>
              <a:cxnLst/>
              <a:rect l="l" t="t" r="r" b="b"/>
              <a:pathLst>
                <a:path w="1266825" h="1047775">
                  <a:moveTo>
                    <a:pt x="0" y="0"/>
                  </a:moveTo>
                  <a:lnTo>
                    <a:pt x="1266825" y="0"/>
                  </a:lnTo>
                  <a:lnTo>
                    <a:pt x="1266825" y="1047775"/>
                  </a:lnTo>
                  <a:lnTo>
                    <a:pt x="0" y="10477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914548" y="536733"/>
            <a:ext cx="7392415" cy="1018608"/>
            <a:chOff x="0" y="0"/>
            <a:chExt cx="9856553" cy="13581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856552" cy="1358143"/>
            </a:xfrm>
            <a:custGeom>
              <a:avLst/>
              <a:gdLst/>
              <a:ahLst/>
              <a:cxnLst/>
              <a:rect l="l" t="t" r="r" b="b"/>
              <a:pathLst>
                <a:path w="9856552" h="1358143">
                  <a:moveTo>
                    <a:pt x="0" y="120829"/>
                  </a:moveTo>
                  <a:cubicBezTo>
                    <a:pt x="0" y="54026"/>
                    <a:pt x="49666" y="0"/>
                    <a:pt x="111078" y="0"/>
                  </a:cubicBezTo>
                  <a:lnTo>
                    <a:pt x="9745474" y="0"/>
                  </a:lnTo>
                  <a:cubicBezTo>
                    <a:pt x="9806718" y="0"/>
                    <a:pt x="9856552" y="54026"/>
                    <a:pt x="9856552" y="120829"/>
                  </a:cubicBezTo>
                  <a:lnTo>
                    <a:pt x="9856552" y="1237314"/>
                  </a:lnTo>
                  <a:cubicBezTo>
                    <a:pt x="9856552" y="1303934"/>
                    <a:pt x="9806885" y="1358143"/>
                    <a:pt x="9745474" y="1358143"/>
                  </a:cubicBezTo>
                  <a:lnTo>
                    <a:pt x="111078" y="1358143"/>
                  </a:lnTo>
                  <a:cubicBezTo>
                    <a:pt x="49666" y="1357961"/>
                    <a:pt x="0" y="1303934"/>
                    <a:pt x="0" y="1237314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183098" y="593567"/>
            <a:ext cx="6586775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 (Phase 2)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20965" y="1773103"/>
            <a:ext cx="12315734" cy="736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incident response</a:t>
            </a:r>
          </a:p>
          <a:p>
            <a:pPr algn="l">
              <a:lnSpc>
                <a:spcPts val="5879"/>
              </a:lnSpc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AI-powered threat prediction</a:t>
            </a:r>
          </a:p>
          <a:p>
            <a:pPr algn="l">
              <a:lnSpc>
                <a:spcPts val="5879"/>
              </a:lnSpc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Blockchain-based model update verification</a:t>
            </a:r>
          </a:p>
          <a:p>
            <a:pPr algn="l">
              <a:lnSpc>
                <a:spcPts val="5879"/>
              </a:lnSpc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IoT/Edge integration</a:t>
            </a:r>
          </a:p>
          <a:p>
            <a:pPr algn="l">
              <a:lnSpc>
                <a:spcPts val="5879"/>
              </a:lnSpc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explainability for transparent decisions</a:t>
            </a:r>
          </a:p>
          <a:p>
            <a:pPr algn="l">
              <a:lnSpc>
                <a:spcPts val="4899"/>
              </a:lnSpc>
            </a:pPr>
            <a:endParaRPr lang="en-US" sz="4199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522600"/>
            <a:ext cx="16404431" cy="776306"/>
            <a:chOff x="0" y="0"/>
            <a:chExt cx="21872574" cy="10350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1035075"/>
            </a:xfrm>
            <a:custGeom>
              <a:avLst/>
              <a:gdLst/>
              <a:ahLst/>
              <a:cxnLst/>
              <a:rect l="l" t="t" r="r" b="b"/>
              <a:pathLst>
                <a:path w="21872575" h="1035075">
                  <a:moveTo>
                    <a:pt x="0" y="0"/>
                  </a:moveTo>
                  <a:lnTo>
                    <a:pt x="21872575" y="0"/>
                  </a:lnTo>
                  <a:lnTo>
                    <a:pt x="21872575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52512" y="9522600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522600"/>
            <a:ext cx="950119" cy="776306"/>
            <a:chOff x="0" y="0"/>
            <a:chExt cx="1266825" cy="10350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1035075"/>
            </a:xfrm>
            <a:custGeom>
              <a:avLst/>
              <a:gdLst/>
              <a:ahLst/>
              <a:cxnLst/>
              <a:rect l="l" t="t" r="r" b="b"/>
              <a:pathLst>
                <a:path w="1266825" h="1035075">
                  <a:moveTo>
                    <a:pt x="0" y="0"/>
                  </a:moveTo>
                  <a:lnTo>
                    <a:pt x="1266825" y="0"/>
                  </a:lnTo>
                  <a:lnTo>
                    <a:pt x="1266825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522600"/>
            <a:ext cx="950118" cy="776306"/>
            <a:chOff x="0" y="0"/>
            <a:chExt cx="1266824" cy="10350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6824" cy="1035075"/>
            </a:xfrm>
            <a:custGeom>
              <a:avLst/>
              <a:gdLst/>
              <a:ahLst/>
              <a:cxnLst/>
              <a:rect l="l" t="t" r="r" b="b"/>
              <a:pathLst>
                <a:path w="1266824" h="1035075">
                  <a:moveTo>
                    <a:pt x="0" y="0"/>
                  </a:moveTo>
                  <a:lnTo>
                    <a:pt x="1266824" y="0"/>
                  </a:lnTo>
                  <a:lnTo>
                    <a:pt x="1266824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1035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9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522600"/>
            <a:ext cx="950119" cy="785831"/>
            <a:chOff x="0" y="0"/>
            <a:chExt cx="1266825" cy="10477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1047775"/>
            </a:xfrm>
            <a:custGeom>
              <a:avLst/>
              <a:gdLst/>
              <a:ahLst/>
              <a:cxnLst/>
              <a:rect l="l" t="t" r="r" b="b"/>
              <a:pathLst>
                <a:path w="1266825" h="1047775">
                  <a:moveTo>
                    <a:pt x="0" y="0"/>
                  </a:moveTo>
                  <a:lnTo>
                    <a:pt x="1266825" y="0"/>
                  </a:lnTo>
                  <a:lnTo>
                    <a:pt x="1266825" y="1047775"/>
                  </a:lnTo>
                  <a:lnTo>
                    <a:pt x="0" y="10477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914548" y="536733"/>
            <a:ext cx="5595271" cy="708756"/>
            <a:chOff x="0" y="0"/>
            <a:chExt cx="7460362" cy="9450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361" cy="945007"/>
            </a:xfrm>
            <a:custGeom>
              <a:avLst/>
              <a:gdLst/>
              <a:ahLst/>
              <a:cxnLst/>
              <a:rect l="l" t="t" r="r" b="b"/>
              <a:pathLst>
                <a:path w="7460361" h="945007">
                  <a:moveTo>
                    <a:pt x="0" y="84074"/>
                  </a:moveTo>
                  <a:cubicBezTo>
                    <a:pt x="0" y="37592"/>
                    <a:pt x="37592" y="0"/>
                    <a:pt x="84074" y="0"/>
                  </a:cubicBezTo>
                  <a:lnTo>
                    <a:pt x="7376287" y="0"/>
                  </a:lnTo>
                  <a:cubicBezTo>
                    <a:pt x="7422642" y="0"/>
                    <a:pt x="7460361" y="37592"/>
                    <a:pt x="7460361" y="84074"/>
                  </a:cubicBezTo>
                  <a:lnTo>
                    <a:pt x="7460361" y="860933"/>
                  </a:lnTo>
                  <a:cubicBezTo>
                    <a:pt x="7460361" y="907288"/>
                    <a:pt x="7422769" y="945007"/>
                    <a:pt x="7376287" y="945007"/>
                  </a:cubicBezTo>
                  <a:lnTo>
                    <a:pt x="84074" y="945007"/>
                  </a:lnTo>
                  <a:cubicBezTo>
                    <a:pt x="37592" y="944880"/>
                    <a:pt x="0" y="907288"/>
                    <a:pt x="0" y="860933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5914548" y="499633"/>
            <a:ext cx="5595271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Novelty of Our Project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33525" y="1719795"/>
            <a:ext cx="16132635" cy="740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2445" lvl="1" indent="-496223" algn="l">
              <a:lnSpc>
                <a:spcPts val="6435"/>
              </a:lnSpc>
              <a:buFont typeface="Arial"/>
              <a:buChar char="•"/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Hybrid Federated AI: </a:t>
            </a:r>
            <a:r>
              <a:rPr lang="en-US" sz="459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intelligence with local privacy</a:t>
            </a:r>
          </a:p>
          <a:p>
            <a:pPr algn="l">
              <a:lnSpc>
                <a:spcPts val="6435"/>
              </a:lnSpc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992445" lvl="1" indent="-496223" algn="l">
              <a:lnSpc>
                <a:spcPts val="6435"/>
              </a:lnSpc>
              <a:buFont typeface="Arial"/>
              <a:buChar char="•"/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Adversarial Resilience: </a:t>
            </a:r>
            <a:r>
              <a:rPr lang="en-US" sz="459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Defends against AI-targeted hacks</a:t>
            </a:r>
          </a:p>
          <a:p>
            <a:pPr algn="l">
              <a:lnSpc>
                <a:spcPts val="6435"/>
              </a:lnSpc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992445" lvl="1" indent="-496223" algn="l">
              <a:lnSpc>
                <a:spcPts val="6435"/>
              </a:lnSpc>
              <a:buFont typeface="Arial"/>
              <a:buChar char="•"/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Zero Trust Governance: </a:t>
            </a:r>
            <a:r>
              <a:rPr lang="en-US" sz="459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Eliminates blind trust</a:t>
            </a:r>
          </a:p>
          <a:p>
            <a:pPr algn="l">
              <a:lnSpc>
                <a:spcPts val="6435"/>
              </a:lnSpc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992445" lvl="1" indent="-496223" algn="l">
              <a:lnSpc>
                <a:spcPts val="6435"/>
              </a:lnSpc>
              <a:buFont typeface="Arial"/>
              <a:buChar char="•"/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Generative AI: </a:t>
            </a:r>
            <a:r>
              <a:rPr lang="en-US" sz="459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Simulates realistic attacks for training</a:t>
            </a:r>
          </a:p>
          <a:p>
            <a:pPr algn="l">
              <a:lnSpc>
                <a:spcPts val="6435"/>
              </a:lnSpc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992445" lvl="1" indent="-496223" algn="l">
              <a:lnSpc>
                <a:spcPts val="6435"/>
              </a:lnSpc>
              <a:buFont typeface="Arial"/>
              <a:buChar char="•"/>
            </a:pPr>
            <a:r>
              <a:rPr lang="en-US" sz="45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Critical Infrastructure Focus: </a:t>
            </a:r>
            <a:r>
              <a:rPr lang="en-US" sz="459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Tailored for high-impact sectors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665B-7538-47AE-9448-9D433A80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4379DC-01F1-4881-3B9F-D0234B5FC529}"/>
              </a:ext>
            </a:extLst>
          </p:cNvPr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D544FD-4801-016C-CD85-C499D83FD6F4}"/>
                </a:ext>
              </a:extLst>
            </p:cNvPr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D78F7F4-C6DD-D7D7-DD3C-B80E0FF9A2B6}"/>
              </a:ext>
            </a:extLst>
          </p:cNvPr>
          <p:cNvGrpSpPr/>
          <p:nvPr/>
        </p:nvGrpSpPr>
        <p:grpSpPr>
          <a:xfrm>
            <a:off x="950118" y="9522600"/>
            <a:ext cx="16404431" cy="776306"/>
            <a:chOff x="0" y="0"/>
            <a:chExt cx="21872574" cy="103507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F9096E5-BC9E-C716-1359-6EF394D81FF1}"/>
                </a:ext>
              </a:extLst>
            </p:cNvPr>
            <p:cNvSpPr/>
            <p:nvPr/>
          </p:nvSpPr>
          <p:spPr>
            <a:xfrm>
              <a:off x="0" y="0"/>
              <a:ext cx="21872575" cy="1035075"/>
            </a:xfrm>
            <a:custGeom>
              <a:avLst/>
              <a:gdLst/>
              <a:ahLst/>
              <a:cxnLst/>
              <a:rect l="l" t="t" r="r" b="b"/>
              <a:pathLst>
                <a:path w="21872575" h="1035075">
                  <a:moveTo>
                    <a:pt x="0" y="0"/>
                  </a:moveTo>
                  <a:lnTo>
                    <a:pt x="21872575" y="0"/>
                  </a:lnTo>
                  <a:lnTo>
                    <a:pt x="21872575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E96B25E-5ED7-CAD6-2032-1F4EBA13EFBC}"/>
              </a:ext>
            </a:extLst>
          </p:cNvPr>
          <p:cNvGrpSpPr/>
          <p:nvPr/>
        </p:nvGrpSpPr>
        <p:grpSpPr>
          <a:xfrm>
            <a:off x="1052512" y="9522600"/>
            <a:ext cx="16404430" cy="977074"/>
            <a:chOff x="0" y="0"/>
            <a:chExt cx="21872573" cy="130276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A4042B2-EA33-13BF-45C0-750606261C00}"/>
                </a:ext>
              </a:extLst>
            </p:cNvPr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2760DE5-D8D8-1C5D-D586-89E92313D02C}"/>
                </a:ext>
              </a:extLst>
            </p:cNvPr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1E47E4D-C8E0-1BBC-937A-FA050BA42BDD}"/>
              </a:ext>
            </a:extLst>
          </p:cNvPr>
          <p:cNvGrpSpPr/>
          <p:nvPr/>
        </p:nvGrpSpPr>
        <p:grpSpPr>
          <a:xfrm>
            <a:off x="17354550" y="9522600"/>
            <a:ext cx="950119" cy="776306"/>
            <a:chOff x="0" y="0"/>
            <a:chExt cx="1266825" cy="10350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CCB0237-3C1F-4C1C-6E80-F0D000FD2E24}"/>
                </a:ext>
              </a:extLst>
            </p:cNvPr>
            <p:cNvSpPr/>
            <p:nvPr/>
          </p:nvSpPr>
          <p:spPr>
            <a:xfrm>
              <a:off x="0" y="0"/>
              <a:ext cx="1266825" cy="1035075"/>
            </a:xfrm>
            <a:custGeom>
              <a:avLst/>
              <a:gdLst/>
              <a:ahLst/>
              <a:cxnLst/>
              <a:rect l="l" t="t" r="r" b="b"/>
              <a:pathLst>
                <a:path w="1266825" h="1035075">
                  <a:moveTo>
                    <a:pt x="0" y="0"/>
                  </a:moveTo>
                  <a:lnTo>
                    <a:pt x="1266825" y="0"/>
                  </a:lnTo>
                  <a:lnTo>
                    <a:pt x="1266825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EAB7A27-C579-545C-CFB8-AE3D74DF9116}"/>
              </a:ext>
            </a:extLst>
          </p:cNvPr>
          <p:cNvGrpSpPr/>
          <p:nvPr/>
        </p:nvGrpSpPr>
        <p:grpSpPr>
          <a:xfrm>
            <a:off x="17354550" y="9522600"/>
            <a:ext cx="950118" cy="776306"/>
            <a:chOff x="0" y="0"/>
            <a:chExt cx="1266824" cy="103507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4BF7BB6-F52F-199E-3B71-7C9D647B73A4}"/>
                </a:ext>
              </a:extLst>
            </p:cNvPr>
            <p:cNvSpPr/>
            <p:nvPr/>
          </p:nvSpPr>
          <p:spPr>
            <a:xfrm>
              <a:off x="0" y="0"/>
              <a:ext cx="1266824" cy="1035075"/>
            </a:xfrm>
            <a:custGeom>
              <a:avLst/>
              <a:gdLst/>
              <a:ahLst/>
              <a:cxnLst/>
              <a:rect l="l" t="t" r="r" b="b"/>
              <a:pathLst>
                <a:path w="1266824" h="1035075">
                  <a:moveTo>
                    <a:pt x="0" y="0"/>
                  </a:moveTo>
                  <a:lnTo>
                    <a:pt x="1266824" y="0"/>
                  </a:lnTo>
                  <a:lnTo>
                    <a:pt x="1266824" y="1035075"/>
                  </a:lnTo>
                  <a:lnTo>
                    <a:pt x="0" y="10350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CBB9D6D-71C6-68B2-DD9E-0AB0A3C45C15}"/>
                </a:ext>
              </a:extLst>
            </p:cNvPr>
            <p:cNvSpPr txBox="1"/>
            <p:nvPr/>
          </p:nvSpPr>
          <p:spPr>
            <a:xfrm>
              <a:off x="0" y="0"/>
              <a:ext cx="1266824" cy="1035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9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01D61C3-48D3-B09F-05DD-FCFAABE302F8}"/>
              </a:ext>
            </a:extLst>
          </p:cNvPr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5B7F819-A22B-A813-1C5D-ADD3C8EAC2DA}"/>
                </a:ext>
              </a:extLst>
            </p:cNvPr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D38DFBD-2EC7-A058-D176-67F28BA68F43}"/>
              </a:ext>
            </a:extLst>
          </p:cNvPr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C547AAA-518E-5B78-925C-B30B25AA3205}"/>
                </a:ext>
              </a:extLst>
            </p:cNvPr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9C20B88-7678-A88A-353E-DF3F97E510F3}"/>
              </a:ext>
            </a:extLst>
          </p:cNvPr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ECC025B-A2E2-5593-8019-679126AC7A50}"/>
                </a:ext>
              </a:extLst>
            </p:cNvPr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12FBAC5D-8997-ED31-06D7-D16D3DED8520}"/>
              </a:ext>
            </a:extLst>
          </p:cNvPr>
          <p:cNvGrpSpPr/>
          <p:nvPr/>
        </p:nvGrpSpPr>
        <p:grpSpPr>
          <a:xfrm>
            <a:off x="0" y="9522600"/>
            <a:ext cx="950119" cy="785831"/>
            <a:chOff x="0" y="0"/>
            <a:chExt cx="1266825" cy="1047774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AE809DB-1B29-127B-EC7F-8ED18778B024}"/>
                </a:ext>
              </a:extLst>
            </p:cNvPr>
            <p:cNvSpPr/>
            <p:nvPr/>
          </p:nvSpPr>
          <p:spPr>
            <a:xfrm>
              <a:off x="0" y="0"/>
              <a:ext cx="1266825" cy="1047775"/>
            </a:xfrm>
            <a:custGeom>
              <a:avLst/>
              <a:gdLst/>
              <a:ahLst/>
              <a:cxnLst/>
              <a:rect l="l" t="t" r="r" b="b"/>
              <a:pathLst>
                <a:path w="1266825" h="1047775">
                  <a:moveTo>
                    <a:pt x="0" y="0"/>
                  </a:moveTo>
                  <a:lnTo>
                    <a:pt x="1266825" y="0"/>
                  </a:lnTo>
                  <a:lnTo>
                    <a:pt x="1266825" y="1047775"/>
                  </a:lnTo>
                  <a:lnTo>
                    <a:pt x="0" y="10477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F0A0368-9315-1B04-7F4D-77B814CC442B}"/>
              </a:ext>
            </a:extLst>
          </p:cNvPr>
          <p:cNvGrpSpPr/>
          <p:nvPr/>
        </p:nvGrpSpPr>
        <p:grpSpPr>
          <a:xfrm>
            <a:off x="5914548" y="536733"/>
            <a:ext cx="5595271" cy="708756"/>
            <a:chOff x="0" y="0"/>
            <a:chExt cx="7460362" cy="945008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189D890-342C-F185-772F-3F193AD08702}"/>
                </a:ext>
              </a:extLst>
            </p:cNvPr>
            <p:cNvSpPr/>
            <p:nvPr/>
          </p:nvSpPr>
          <p:spPr>
            <a:xfrm>
              <a:off x="0" y="0"/>
              <a:ext cx="7460361" cy="945007"/>
            </a:xfrm>
            <a:custGeom>
              <a:avLst/>
              <a:gdLst/>
              <a:ahLst/>
              <a:cxnLst/>
              <a:rect l="l" t="t" r="r" b="b"/>
              <a:pathLst>
                <a:path w="7460361" h="945007">
                  <a:moveTo>
                    <a:pt x="0" y="84074"/>
                  </a:moveTo>
                  <a:cubicBezTo>
                    <a:pt x="0" y="37592"/>
                    <a:pt x="37592" y="0"/>
                    <a:pt x="84074" y="0"/>
                  </a:cubicBezTo>
                  <a:lnTo>
                    <a:pt x="7376287" y="0"/>
                  </a:lnTo>
                  <a:cubicBezTo>
                    <a:pt x="7422642" y="0"/>
                    <a:pt x="7460361" y="37592"/>
                    <a:pt x="7460361" y="84074"/>
                  </a:cubicBezTo>
                  <a:lnTo>
                    <a:pt x="7460361" y="860933"/>
                  </a:lnTo>
                  <a:cubicBezTo>
                    <a:pt x="7460361" y="907288"/>
                    <a:pt x="7422769" y="945007"/>
                    <a:pt x="7376287" y="945007"/>
                  </a:cubicBezTo>
                  <a:lnTo>
                    <a:pt x="84074" y="945007"/>
                  </a:lnTo>
                  <a:cubicBezTo>
                    <a:pt x="37592" y="944880"/>
                    <a:pt x="0" y="907288"/>
                    <a:pt x="0" y="860933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688AE83A-4AF7-6F51-EF8F-AD87442430E2}"/>
              </a:ext>
            </a:extLst>
          </p:cNvPr>
          <p:cNvSpPr txBox="1"/>
          <p:nvPr/>
        </p:nvSpPr>
        <p:spPr>
          <a:xfrm>
            <a:off x="5914548" y="499633"/>
            <a:ext cx="5595271" cy="58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7B178A1-5108-DC2D-23D7-6B58ADF23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1" t="8776" r="6718" b="4673"/>
          <a:stretch>
            <a:fillRect/>
          </a:stretch>
        </p:blipFill>
        <p:spPr>
          <a:xfrm>
            <a:off x="968914" y="2356514"/>
            <a:ext cx="2962688" cy="591489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5EE764D-4BC4-85C0-7DF5-01B0BB33B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169" y="2313431"/>
            <a:ext cx="2962688" cy="593528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A31F8EA-40AA-64B8-66AD-EED684852D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819" y="2313431"/>
            <a:ext cx="2943636" cy="593528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FF3DF0F-2FB6-8304-FE0C-05652E6D54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675" y="2313431"/>
            <a:ext cx="2991267" cy="591489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7086F6C-90F8-32BF-5D40-BBCF8E05A3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9620" y="2302302"/>
            <a:ext cx="2905530" cy="595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5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139">
            <a:off x="-28595" y="9541668"/>
            <a:ext cx="18364240" cy="19050"/>
            <a:chOff x="0" y="0"/>
            <a:chExt cx="24485653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5600" cy="25400"/>
            </a:xfrm>
            <a:custGeom>
              <a:avLst/>
              <a:gdLst/>
              <a:ahLst/>
              <a:cxnLst/>
              <a:rect l="l" t="t" r="r" b="b"/>
              <a:pathLst>
                <a:path w="24485600" h="25400">
                  <a:moveTo>
                    <a:pt x="12700" y="0"/>
                  </a:moveTo>
                  <a:lnTo>
                    <a:pt x="24472900" y="0"/>
                  </a:lnTo>
                  <a:cubicBezTo>
                    <a:pt x="24479886" y="0"/>
                    <a:pt x="24485600" y="5715"/>
                    <a:pt x="24485600" y="12700"/>
                  </a:cubicBezTo>
                  <a:cubicBezTo>
                    <a:pt x="24485600" y="19685"/>
                    <a:pt x="24479886" y="25400"/>
                    <a:pt x="244729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0118" y="9613106"/>
            <a:ext cx="16404431" cy="685800"/>
            <a:chOff x="0" y="0"/>
            <a:chExt cx="21872574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2575" cy="914400"/>
            </a:xfrm>
            <a:custGeom>
              <a:avLst/>
              <a:gdLst/>
              <a:ahLst/>
              <a:cxnLst/>
              <a:rect l="l" t="t" r="r" b="b"/>
              <a:pathLst>
                <a:path w="21872575" h="914400">
                  <a:moveTo>
                    <a:pt x="0" y="0"/>
                  </a:moveTo>
                  <a:lnTo>
                    <a:pt x="21872575" y="0"/>
                  </a:lnTo>
                  <a:lnTo>
                    <a:pt x="218725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50118" y="9648825"/>
            <a:ext cx="16404430" cy="977074"/>
            <a:chOff x="0" y="0"/>
            <a:chExt cx="21872573" cy="130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72573" cy="1302766"/>
            </a:xfrm>
            <a:custGeom>
              <a:avLst/>
              <a:gdLst/>
              <a:ahLst/>
              <a:cxnLst/>
              <a:rect l="l" t="t" r="r" b="b"/>
              <a:pathLst>
                <a:path w="21872573" h="1302766">
                  <a:moveTo>
                    <a:pt x="0" y="0"/>
                  </a:moveTo>
                  <a:lnTo>
                    <a:pt x="21872573" y="0"/>
                  </a:lnTo>
                  <a:lnTo>
                    <a:pt x="21872573" y="1302766"/>
                  </a:lnTo>
                  <a:lnTo>
                    <a:pt x="0" y="130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21872573" cy="12551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72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Vel Tech High Tech Dr Rangarajan Dr Sakunthala Engineering College </a:t>
              </a:r>
              <a:r>
                <a:rPr lang="en-US" sz="3300" b="1">
                  <a:solidFill>
                    <a:srgbClr val="FFFF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 Autonomous Institution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4550" y="9613106"/>
            <a:ext cx="950119" cy="685800"/>
            <a:chOff x="0" y="0"/>
            <a:chExt cx="1266825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825" cy="914400"/>
            </a:xfrm>
            <a:custGeom>
              <a:avLst/>
              <a:gdLst/>
              <a:ahLst/>
              <a:cxnLst/>
              <a:rect l="l" t="t" r="r" b="b"/>
              <a:pathLst>
                <a:path w="1266825" h="914400">
                  <a:moveTo>
                    <a:pt x="0" y="0"/>
                  </a:moveTo>
                  <a:lnTo>
                    <a:pt x="1266825" y="0"/>
                  </a:lnTo>
                  <a:lnTo>
                    <a:pt x="126682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354550" y="9613106"/>
            <a:ext cx="1121568" cy="746237"/>
            <a:chOff x="0" y="0"/>
            <a:chExt cx="1495424" cy="994983"/>
          </a:xfrm>
        </p:grpSpPr>
        <p:sp>
          <p:nvSpPr>
            <p:cNvPr id="12" name="Freeform 12"/>
            <p:cNvSpPr/>
            <p:nvPr/>
          </p:nvSpPr>
          <p:spPr>
            <a:xfrm>
              <a:off x="228600" y="80583"/>
              <a:ext cx="1266824" cy="914400"/>
            </a:xfrm>
            <a:custGeom>
              <a:avLst/>
              <a:gdLst/>
              <a:ahLst/>
              <a:cxnLst/>
              <a:rect l="l" t="t" r="r" b="b"/>
              <a:pathLst>
                <a:path w="1266824" h="914400">
                  <a:moveTo>
                    <a:pt x="0" y="0"/>
                  </a:moveTo>
                  <a:lnTo>
                    <a:pt x="1266824" y="0"/>
                  </a:lnTo>
                  <a:lnTo>
                    <a:pt x="126682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10</a:t>
              </a:r>
              <a:endParaRPr lang="en-IN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66824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endParaRPr lang="en-US" sz="2400" b="1" dirty="0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230980"/>
            <a:ext cx="1674019" cy="1097757"/>
            <a:chOff x="0" y="0"/>
            <a:chExt cx="2232025" cy="1463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2025" cy="1463675"/>
            </a:xfrm>
            <a:custGeom>
              <a:avLst/>
              <a:gdLst/>
              <a:ahLst/>
              <a:cxnLst/>
              <a:rect l="l" t="t" r="r" b="b"/>
              <a:pathLst>
                <a:path w="2232025" h="1463675">
                  <a:moveTo>
                    <a:pt x="0" y="0"/>
                  </a:moveTo>
                  <a:lnTo>
                    <a:pt x="1678940" y="0"/>
                  </a:lnTo>
                  <a:cubicBezTo>
                    <a:pt x="1984375" y="0"/>
                    <a:pt x="2232025" y="327660"/>
                    <a:pt x="2232025" y="731901"/>
                  </a:cubicBezTo>
                  <a:cubicBezTo>
                    <a:pt x="2232025" y="1136142"/>
                    <a:pt x="1984375" y="1463675"/>
                    <a:pt x="1678940" y="1463675"/>
                  </a:cubicBezTo>
                  <a:lnTo>
                    <a:pt x="0" y="1463675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230980"/>
            <a:ext cx="431007" cy="1097757"/>
            <a:chOff x="0" y="0"/>
            <a:chExt cx="574676" cy="1463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4675" cy="1463675"/>
            </a:xfrm>
            <a:custGeom>
              <a:avLst/>
              <a:gdLst/>
              <a:ahLst/>
              <a:cxnLst/>
              <a:rect l="l" t="t" r="r" b="b"/>
              <a:pathLst>
                <a:path w="574675" h="1463675">
                  <a:moveTo>
                    <a:pt x="0" y="0"/>
                  </a:moveTo>
                  <a:lnTo>
                    <a:pt x="574675" y="0"/>
                  </a:lnTo>
                  <a:lnTo>
                    <a:pt x="574675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71500" y="300038"/>
            <a:ext cx="962025" cy="959644"/>
            <a:chOff x="0" y="0"/>
            <a:chExt cx="1282700" cy="12795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2700" cy="1279525"/>
            </a:xfrm>
            <a:custGeom>
              <a:avLst/>
              <a:gdLst/>
              <a:ahLst/>
              <a:cxnLst/>
              <a:rect l="l" t="t" r="r" b="b"/>
              <a:pathLst>
                <a:path w="1282700" h="1279525">
                  <a:moveTo>
                    <a:pt x="0" y="0"/>
                  </a:moveTo>
                  <a:lnTo>
                    <a:pt x="1282700" y="0"/>
                  </a:lnTo>
                  <a:lnTo>
                    <a:pt x="1282700" y="1279525"/>
                  </a:lnTo>
                  <a:lnTo>
                    <a:pt x="0" y="1279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4" b="-1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0" y="9601200"/>
            <a:ext cx="950119" cy="707231"/>
            <a:chOff x="0" y="0"/>
            <a:chExt cx="1266825" cy="9429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6825" cy="942975"/>
            </a:xfrm>
            <a:custGeom>
              <a:avLst/>
              <a:gdLst/>
              <a:ahLst/>
              <a:cxnLst/>
              <a:rect l="l" t="t" r="r" b="b"/>
              <a:pathLst>
                <a:path w="1266825" h="942975">
                  <a:moveTo>
                    <a:pt x="0" y="0"/>
                  </a:moveTo>
                  <a:lnTo>
                    <a:pt x="1266825" y="0"/>
                  </a:lnTo>
                  <a:lnTo>
                    <a:pt x="1266825" y="9429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960425" y="637223"/>
            <a:ext cx="5594985" cy="1244918"/>
            <a:chOff x="0" y="0"/>
            <a:chExt cx="7459980" cy="16598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59980" cy="1659890"/>
            </a:xfrm>
            <a:custGeom>
              <a:avLst/>
              <a:gdLst/>
              <a:ahLst/>
              <a:cxnLst/>
              <a:rect l="l" t="t" r="r" b="b"/>
              <a:pathLst>
                <a:path w="7459980" h="165989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7312406" y="0"/>
                  </a:lnTo>
                  <a:cubicBezTo>
                    <a:pt x="7393940" y="0"/>
                    <a:pt x="7459980" y="66040"/>
                    <a:pt x="7459980" y="147574"/>
                  </a:cubicBezTo>
                  <a:lnTo>
                    <a:pt x="7459980" y="1512316"/>
                  </a:lnTo>
                  <a:cubicBezTo>
                    <a:pt x="7459980" y="1593850"/>
                    <a:pt x="7393940" y="1659890"/>
                    <a:pt x="7312406" y="1659890"/>
                  </a:cubicBezTo>
                  <a:lnTo>
                    <a:pt x="147574" y="1659890"/>
                  </a:lnTo>
                  <a:cubicBezTo>
                    <a:pt x="66040" y="1659890"/>
                    <a:pt x="0" y="1593850"/>
                    <a:pt x="0" y="1512316"/>
                  </a:cubicBez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172200" y="705985"/>
            <a:ext cx="4951691" cy="1023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0" y="3433090"/>
            <a:ext cx="18122985" cy="440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5055" lvl="1" indent="-382527" algn="just">
              <a:lnSpc>
                <a:spcPts val="4960"/>
              </a:lnSpc>
              <a:buFont typeface="Arial"/>
              <a:buChar char="•"/>
            </a:pPr>
            <a:r>
              <a:rPr lang="en-US" sz="35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This simplified simulation demonstrates how Hybrid Federated Generative AI can train models across multiple clients without sharing raw data, thereby improving privacy and security in critical infrastructure applications.</a:t>
            </a:r>
          </a:p>
          <a:p>
            <a:pPr marL="765055" lvl="1" indent="-382527" algn="just">
              <a:lnSpc>
                <a:spcPts val="4960"/>
              </a:lnSpc>
              <a:buFont typeface="Arial"/>
              <a:buChar char="•"/>
            </a:pPr>
            <a:r>
              <a:rPr lang="en-US" sz="35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By introducing adversarial attacks and testing the model’s resilience, we can evaluate its robustness against malicious input manipulation.</a:t>
            </a:r>
          </a:p>
          <a:p>
            <a:pPr marL="765055" lvl="1" indent="-382527" algn="just">
              <a:lnSpc>
                <a:spcPts val="4960"/>
              </a:lnSpc>
              <a:buFont typeface="Arial"/>
              <a:buChar char="•"/>
            </a:pPr>
            <a:r>
              <a:rPr lang="en-US" sz="35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Integrating Zero Trust Governance ensures that only authenticated and authorized clients participate in the training process, preventing insider threats and data poisoning.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142" r="-271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30303" y="2422684"/>
            <a:ext cx="14199393" cy="4138612"/>
            <a:chOff x="0" y="0"/>
            <a:chExt cx="18932524" cy="55181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32523" cy="5518149"/>
            </a:xfrm>
            <a:custGeom>
              <a:avLst/>
              <a:gdLst/>
              <a:ahLst/>
              <a:cxnLst/>
              <a:rect l="l" t="t" r="r" b="b"/>
              <a:pathLst>
                <a:path w="18932523" h="5518149">
                  <a:moveTo>
                    <a:pt x="0" y="0"/>
                  </a:moveTo>
                  <a:lnTo>
                    <a:pt x="18932523" y="0"/>
                  </a:lnTo>
                  <a:lnTo>
                    <a:pt x="18932523" y="5518149"/>
                  </a:lnTo>
                  <a:lnTo>
                    <a:pt x="0" y="5518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18932524" cy="54419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6000" b="1">
                  <a:solidFill>
                    <a:srgbClr val="FF006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Thank you!!!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*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667</Words>
  <Application>Microsoft Office PowerPoint</Application>
  <PresentationFormat>Custom</PresentationFormat>
  <Paragraphs>131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Times New Roman</vt:lpstr>
      <vt:lpstr>Calibri</vt:lpstr>
      <vt:lpstr>Arial</vt:lpstr>
      <vt:lpstr>Times New Roman Bold</vt:lpstr>
      <vt:lpstr>Century Gothic Paneuropean Bold</vt:lpstr>
      <vt:lpstr>Quattrocento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FEDERATED GENERATIVE AI WITH ADVERSARIAL RESILIENCE AND ZERO TRUST GOVERNANCE FOR SECURING CRITICAL INFRASTRUCTURE</dc:title>
  <dc:creator>Abinaya R</dc:creator>
  <cp:lastModifiedBy>Abinaya R</cp:lastModifiedBy>
  <cp:revision>5</cp:revision>
  <dcterms:created xsi:type="dcterms:W3CDTF">2006-08-16T00:00:00Z</dcterms:created>
  <dcterms:modified xsi:type="dcterms:W3CDTF">2026-01-06T05:36:55Z</dcterms:modified>
  <dc:identifier>DAGyWz5aLRU</dc:identifier>
</cp:coreProperties>
</file>